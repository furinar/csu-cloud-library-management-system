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66" r:id="rId4"/>
  </p:sldMasterIdLst>
  <p:notesMasterIdLst>
    <p:notesMasterId r:id="rId7"/>
  </p:notesMasterIdLst>
  <p:sldIdLst>
    <p:sldId id="3242" r:id="rId5"/>
    <p:sldId id="270" r:id="rId6"/>
    <p:sldId id="293" r:id="rId8"/>
    <p:sldId id="3248" r:id="rId9"/>
    <p:sldId id="3249" r:id="rId10"/>
    <p:sldId id="3250" r:id="rId11"/>
    <p:sldId id="3251" r:id="rId12"/>
    <p:sldId id="3233" r:id="rId13"/>
    <p:sldId id="3252" r:id="rId14"/>
    <p:sldId id="3237" r:id="rId15"/>
    <p:sldId id="3236" r:id="rId16"/>
    <p:sldId id="3258" r:id="rId17"/>
    <p:sldId id="3257" r:id="rId18"/>
    <p:sldId id="3243" r:id="rId19"/>
    <p:sldId id="3259" r:id="rId20"/>
    <p:sldId id="3253" r:id="rId21"/>
    <p:sldId id="3255" r:id="rId22"/>
    <p:sldId id="3254" r:id="rId23"/>
    <p:sldId id="3256" r:id="rId24"/>
    <p:sldId id="3228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8C3"/>
    <a:srgbClr val="1A78C2"/>
    <a:srgbClr val="1B6299"/>
    <a:srgbClr val="8609AD"/>
    <a:srgbClr val="1C6299"/>
    <a:srgbClr val="1B6298"/>
    <a:srgbClr val="96C4D1"/>
    <a:srgbClr val="6F3A97"/>
    <a:srgbClr val="D7E0E6"/>
    <a:srgbClr val="286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68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-864" y="-552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69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1C6299"/>
            </a:solidFill>
            <a:effectLst/>
          </c:spPr>
          <c:explosion val="0"/>
          <c:dPt>
            <c:idx val="0"/>
            <c:bubble3D val="0"/>
            <c:spPr>
              <a:solidFill>
                <a:srgbClr val="1C6299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rgbClr val="1C6299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rgbClr val="1C6299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rgbClr val="1C6299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红</c:v>
                </c:pt>
                <c:pt idx="1">
                  <c:v>蓝</c:v>
                </c:pt>
                <c:pt idx="2">
                  <c:v>青</c:v>
                </c:pt>
                <c:pt idx="3">
                  <c:v>橙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40</c:v>
                </c:pt>
                <c:pt idx="2">
                  <c:v>15</c:v>
                </c:pt>
                <c:pt idx="3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47"/>
        <c:holeSize val="9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48e740e-e4ca-4742-a837-54c312e1c7d9}"/>
      </c:ext>
    </c:extLst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3C12-D317-442F-945E-D6517EECB5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300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300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3000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DC35-3D39-4E5D-813A-1465AB5946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C6EB1-3B9C-423A-A463-BABF6B6D69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1000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 advTm="3000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ransition spd="slow" advClick="0" advTm="1000">
    <p:randomBar dir="vert"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8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8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8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8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8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8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8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8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8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4.xml"/><Relationship Id="rId7" Type="http://schemas.microsoft.com/office/2007/relationships/hdphoto" Target="../media/image3.wdp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2.xml"/><Relationship Id="rId7" Type="http://schemas.microsoft.com/office/2007/relationships/hdphoto" Target="../media/image3.wdp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microsoft.com/office/2007/relationships/hdphoto" Target="../media/image3.wdp"/><Relationship Id="rId25" Type="http://schemas.openxmlformats.org/officeDocument/2006/relationships/notesSlide" Target="../notesSlides/notesSlide6.xml"/><Relationship Id="rId24" Type="http://schemas.openxmlformats.org/officeDocument/2006/relationships/slideLayout" Target="../slideLayouts/slideLayout2.xml"/><Relationship Id="rId23" Type="http://schemas.openxmlformats.org/officeDocument/2006/relationships/image" Target="../media/image16.jpeg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image" Target="../media/image2.png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microsoft.com/office/2007/relationships/hdphoto" Target="../media/image3.wdp"/><Relationship Id="rId29" Type="http://schemas.openxmlformats.org/officeDocument/2006/relationships/notesSlide" Target="../notesSlides/notesSlide7.xml"/><Relationship Id="rId28" Type="http://schemas.openxmlformats.org/officeDocument/2006/relationships/slideLayout" Target="../slideLayouts/slideLayout2.xml"/><Relationship Id="rId27" Type="http://schemas.openxmlformats.org/officeDocument/2006/relationships/image" Target="../media/image20.png"/><Relationship Id="rId26" Type="http://schemas.openxmlformats.org/officeDocument/2006/relationships/image" Target="../media/image19.png"/><Relationship Id="rId25" Type="http://schemas.openxmlformats.org/officeDocument/2006/relationships/image" Target="../media/image18.png"/><Relationship Id="rId24" Type="http://schemas.openxmlformats.org/officeDocument/2006/relationships/image" Target="../media/image17.png"/><Relationship Id="rId23" Type="http://schemas.openxmlformats.org/officeDocument/2006/relationships/image" Target="../media/image16.jpeg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tags" Target="../tags/tag36.xml"/><Relationship Id="rId2" Type="http://schemas.openxmlformats.org/officeDocument/2006/relationships/image" Target="../media/image2.png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2.png"/><Relationship Id="rId6" Type="http://schemas.microsoft.com/office/2007/relationships/hdphoto" Target="../media/image3.wdp"/><Relationship Id="rId5" Type="http://schemas.openxmlformats.org/officeDocument/2006/relationships/image" Target="../media/image2.png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image" Target="../media/image21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3.png"/><Relationship Id="rId7" Type="http://schemas.openxmlformats.org/officeDocument/2006/relationships/image" Target="../media/image21.png"/><Relationship Id="rId6" Type="http://schemas.microsoft.com/office/2007/relationships/hdphoto" Target="../media/image3.wdp"/><Relationship Id="rId5" Type="http://schemas.openxmlformats.org/officeDocument/2006/relationships/image" Target="../media/image2.png"/><Relationship Id="rId4" Type="http://schemas.openxmlformats.org/officeDocument/2006/relationships/image" Target="../media/image22.png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2.png"/><Relationship Id="rId6" Type="http://schemas.microsoft.com/office/2007/relationships/hdphoto" Target="../media/image3.wdp"/><Relationship Id="rId5" Type="http://schemas.openxmlformats.org/officeDocument/2006/relationships/image" Target="../media/image2.png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image" Target="../media/image23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2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image" Target="../media/image25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15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image" Target="../media/image25.png"/><Relationship Id="rId18" Type="http://schemas.openxmlformats.org/officeDocument/2006/relationships/notesSlide" Target="../notesSlides/notesSlide16.xml"/><Relationship Id="rId17" Type="http://schemas.openxmlformats.org/officeDocument/2006/relationships/slideLayout" Target="../slideLayouts/slideLayout2.xml"/><Relationship Id="rId16" Type="http://schemas.microsoft.com/office/2007/relationships/hdphoto" Target="../media/image3.wdp"/><Relationship Id="rId15" Type="http://schemas.openxmlformats.org/officeDocument/2006/relationships/image" Target="../media/image2.png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9" Type="http://schemas.microsoft.com/office/2007/relationships/hdphoto" Target="../media/image3.wdp"/><Relationship Id="rId8" Type="http://schemas.openxmlformats.org/officeDocument/2006/relationships/image" Target="../media/image2.png"/><Relationship Id="rId7" Type="http://schemas.openxmlformats.org/officeDocument/2006/relationships/image" Target="../media/image11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647042" y="2805987"/>
            <a:ext cx="49834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3765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云借阅管理系统</a:t>
            </a:r>
            <a:endParaRPr lang="zh-CN" altLang="en-US" sz="5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sp>
        <p:nvSpPr>
          <p:cNvPr id="17" name="文本占位符 13"/>
          <p:cNvSpPr txBox="1"/>
          <p:nvPr/>
        </p:nvSpPr>
        <p:spPr>
          <a:xfrm>
            <a:off x="4977130" y="5742305"/>
            <a:ext cx="3028950" cy="2965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2025 </a:t>
            </a:r>
            <a:r>
              <a:rPr lang="en-US" altLang="zh-CN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/ 12</a:t>
            </a:r>
            <a:r>
              <a:rPr lang="en-US" altLang="zh-CN" dirty="0" smtClean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/ 20</a:t>
            </a:r>
            <a:endParaRPr lang="zh-CN" altLang="en-US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993765" y="3985260"/>
            <a:ext cx="27743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一班第一小组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"/>
    </mc:Choice>
    <mc:Fallback>
      <p:transition spd="med" advClick="0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1176" y="964573"/>
            <a:ext cx="11741149" cy="5893427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测试结果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任意多边形: 形状 4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785242" y="1134978"/>
            <a:ext cx="2583180" cy="897696"/>
            <a:chOff x="5576876" y="540040"/>
            <a:chExt cx="2583180" cy="897696"/>
          </a:xfrm>
        </p:grpSpPr>
        <p:sp>
          <p:nvSpPr>
            <p:cNvPr id="18" name="文本框 17"/>
            <p:cNvSpPr txBox="1"/>
            <p:nvPr/>
          </p:nvSpPr>
          <p:spPr>
            <a:xfrm>
              <a:off x="5576876" y="540040"/>
              <a:ext cx="77938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30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C6299"/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  <a:tileRect/>
                  </a:gra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4400" b="0" i="0" u="none" strike="noStrike" kern="1200" cap="none" spc="30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1C6299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576876" y="977361"/>
              <a:ext cx="25831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300" normalizeH="0" baseline="0" noProof="0" dirty="0">
                  <a:ln>
                    <a:noFill/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项目背景与意义</a:t>
              </a:r>
              <a:endPara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789084" y="1134978"/>
            <a:ext cx="1554480" cy="897696"/>
            <a:chOff x="8704421" y="540040"/>
            <a:chExt cx="1554480" cy="897696"/>
          </a:xfrm>
        </p:grpSpPr>
        <p:sp>
          <p:nvSpPr>
            <p:cNvPr id="22" name="文本框 21"/>
            <p:cNvSpPr txBox="1"/>
            <p:nvPr/>
          </p:nvSpPr>
          <p:spPr>
            <a:xfrm>
              <a:off x="8704421" y="540040"/>
              <a:ext cx="84830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 spc="300">
                  <a:gradFill>
                    <a:gsLst>
                      <a:gs pos="0">
                        <a:srgbClr val="5C307D"/>
                      </a:gs>
                      <a:gs pos="90000">
                        <a:srgbClr val="5C307D">
                          <a:alpha val="0"/>
                        </a:srgbClr>
                      </a:gs>
                    </a:gsLst>
                    <a:lin ang="5400000" scaled="1"/>
                  </a:gradFill>
                  <a:latin typeface="Impact" panose="020B0806030902050204" pitchFamily="34" charset="0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30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C6299"/>
                      </a:gs>
                      <a:gs pos="97403">
                        <a:srgbClr val="5C307D">
                          <a:alpha val="0"/>
                        </a:srgbClr>
                      </a:gs>
                      <a:gs pos="97000">
                        <a:schemeClr val="bg1"/>
                      </a:gs>
                    </a:gsLst>
                    <a:lin ang="5400000" scaled="1"/>
                    <a:tileRect/>
                  </a:gra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4400" b="0" i="0" u="none" strike="noStrike" kern="1200" cap="none" spc="30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1C6299"/>
                    </a:gs>
                    <a:gs pos="97403">
                      <a:srgbClr val="5C307D">
                        <a:alpha val="0"/>
                      </a:srgbClr>
                    </a:gs>
                    <a:gs pos="97000">
                      <a:schemeClr val="bg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704421" y="977361"/>
              <a:ext cx="15544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300" normalizeH="0" baseline="0" noProof="0" dirty="0">
                  <a:ln>
                    <a:noFill/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需求分析</a:t>
              </a:r>
              <a:endPara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785242" y="2729014"/>
            <a:ext cx="2240280" cy="867154"/>
            <a:chOff x="5576876" y="2230747"/>
            <a:chExt cx="2240280" cy="867154"/>
          </a:xfrm>
        </p:grpSpPr>
        <p:sp>
          <p:nvSpPr>
            <p:cNvPr id="26" name="文本框 25"/>
            <p:cNvSpPr txBox="1"/>
            <p:nvPr/>
          </p:nvSpPr>
          <p:spPr>
            <a:xfrm>
              <a:off x="5576876" y="2230747"/>
              <a:ext cx="86433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 spc="300">
                  <a:gradFill>
                    <a:gsLst>
                      <a:gs pos="0">
                        <a:srgbClr val="5C307D"/>
                      </a:gs>
                      <a:gs pos="90000">
                        <a:srgbClr val="5C307D">
                          <a:alpha val="0"/>
                        </a:srgbClr>
                      </a:gs>
                    </a:gsLst>
                    <a:lin ang="5400000" scaled="1"/>
                  </a:gradFill>
                  <a:latin typeface="Impact" panose="020B0806030902050204" pitchFamily="34" charset="0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300" normalizeH="0" baseline="0" noProof="0" dirty="0">
                  <a:ln>
                    <a:noFill/>
                  </a:ln>
                  <a:gradFill>
                    <a:gsLst>
                      <a:gs pos="0">
                        <a:srgbClr val="1C6299"/>
                      </a:gs>
                      <a:gs pos="90000">
                        <a:schemeClr val="bg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44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1C6299"/>
                    </a:gs>
                    <a:gs pos="9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576876" y="2637526"/>
              <a:ext cx="22402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300" normalizeH="0" baseline="0" noProof="0" dirty="0">
                  <a:ln>
                    <a:noFill/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系统架构设计</a:t>
              </a:r>
              <a:endPara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7789084" y="2729014"/>
            <a:ext cx="2240280" cy="867154"/>
            <a:chOff x="8704421" y="2230747"/>
            <a:chExt cx="2240280" cy="867154"/>
          </a:xfrm>
        </p:grpSpPr>
        <p:sp>
          <p:nvSpPr>
            <p:cNvPr id="30" name="文本框 29"/>
            <p:cNvSpPr txBox="1"/>
            <p:nvPr/>
          </p:nvSpPr>
          <p:spPr>
            <a:xfrm>
              <a:off x="8704421" y="2230747"/>
              <a:ext cx="84670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400" spc="300">
                  <a:gradFill>
                    <a:gsLst>
                      <a:gs pos="0">
                        <a:srgbClr val="5C307D"/>
                      </a:gs>
                      <a:gs pos="90000">
                        <a:srgbClr val="5C307D">
                          <a:alpha val="0"/>
                        </a:srgbClr>
                      </a:gs>
                    </a:gsLst>
                    <a:lin ang="5400000" scaled="1"/>
                  </a:gradFill>
                  <a:latin typeface="Impact" panose="020B0806030902050204" pitchFamily="34" charset="0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300" normalizeH="0" baseline="0" noProof="0" dirty="0">
                  <a:ln>
                    <a:noFill/>
                  </a:ln>
                  <a:gradFill>
                    <a:gsLst>
                      <a:gs pos="0">
                        <a:srgbClr val="1C6299"/>
                      </a:gs>
                      <a:gs pos="10000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44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1C6299"/>
                    </a:gs>
                    <a:gs pos="10000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704421" y="2637526"/>
              <a:ext cx="22402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spc="300" noProof="0" dirty="0">
                  <a:ln>
                    <a:noFill/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sym typeface="+mn-ea"/>
                </a:rPr>
                <a:t>核心功能实现</a:t>
              </a:r>
              <a:endParaRPr lang="zh-CN" altLang="en-US" sz="2400" b="1" spc="30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57933" y="870126"/>
            <a:ext cx="1601400" cy="5445722"/>
            <a:chOff x="457933" y="870126"/>
            <a:chExt cx="1601400" cy="5445722"/>
          </a:xfrm>
        </p:grpSpPr>
        <p:sp>
          <p:nvSpPr>
            <p:cNvPr id="37" name="文本框 36"/>
            <p:cNvSpPr txBox="1"/>
            <p:nvPr/>
          </p:nvSpPr>
          <p:spPr>
            <a:xfrm rot="16200000">
              <a:off x="-1541653" y="2869712"/>
              <a:ext cx="5445722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5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Contents</a:t>
              </a:r>
              <a:r>
                <a:rPr kumimoji="0" lang="en-US" altLang="zh-CN" sz="8800" b="1" i="0" u="none" strike="noStrike" kern="1200" cap="none" spc="50" normalizeH="0" baseline="0" noProof="0" dirty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.</a:t>
              </a:r>
              <a:endParaRPr kumimoji="0" lang="zh-CN" altLang="en-US" sz="8800" b="1" i="0" u="none" strike="noStrike" kern="1200" cap="none" spc="5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320669" y="5117804"/>
              <a:ext cx="738664" cy="116955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600" normalizeH="0" baseline="0" noProof="0" dirty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目录</a:t>
              </a:r>
              <a:endParaRPr kumimoji="0" lang="zh-CN" altLang="en-US" sz="3600" b="1" i="0" u="none" strike="noStrike" kern="1200" cap="none" spc="60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0718598" y="6315848"/>
            <a:ext cx="1052654" cy="108000"/>
            <a:chOff x="10467218" y="6126091"/>
            <a:chExt cx="1052654" cy="108000"/>
          </a:xfrm>
          <a:gradFill>
            <a:gsLst>
              <a:gs pos="0">
                <a:srgbClr val="1C6299"/>
              </a:gs>
              <a:gs pos="100000">
                <a:srgbClr val="5C307D">
                  <a:alpha val="40000"/>
                </a:srgbClr>
              </a:gs>
            </a:gsLst>
            <a:lin ang="0" scaled="0"/>
          </a:gradFill>
        </p:grpSpPr>
        <p:sp>
          <p:nvSpPr>
            <p:cNvPr id="40" name="椭圆 39"/>
            <p:cNvSpPr/>
            <p:nvPr/>
          </p:nvSpPr>
          <p:spPr>
            <a:xfrm>
              <a:off x="10467218" y="6126091"/>
              <a:ext cx="108000" cy="108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C307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10703381" y="6126091"/>
              <a:ext cx="108000" cy="108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C307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10939545" y="6126091"/>
              <a:ext cx="108000" cy="108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C307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11175708" y="6126091"/>
              <a:ext cx="108000" cy="108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C307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11411872" y="6126091"/>
              <a:ext cx="108000" cy="108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C307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1289" y="-870101"/>
            <a:ext cx="3140616" cy="290358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781432" y="4244759"/>
            <a:ext cx="85852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 spc="300">
                <a:gradFill>
                  <a:gsLst>
                    <a:gs pos="0">
                      <a:srgbClr val="5C307D"/>
                    </a:gs>
                    <a:gs pos="90000">
                      <a:srgbClr val="5C307D">
                        <a:alpha val="0"/>
                      </a:srgb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1C6299"/>
                    </a:gs>
                    <a:gs pos="9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05</a:t>
            </a:r>
            <a:endParaRPr kumimoji="0" lang="zh-CN" altLang="en-US" sz="44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0">
                    <a:srgbClr val="1C6299"/>
                  </a:gs>
                  <a:gs pos="9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79857" y="4633123"/>
            <a:ext cx="32689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技术难点与解决方案</a:t>
            </a:r>
            <a:endParaRPr kumimoji="0" lang="zh-CN" altLang="en-US" sz="2400" b="1" i="0" u="none" strike="noStrike" kern="1200" cap="none" spc="300" normalizeH="0" baseline="0" noProof="0" dirty="0">
              <a:ln>
                <a:noFill/>
              </a:ln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58767" y="4244759"/>
            <a:ext cx="86169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 spc="300">
                <a:gradFill>
                  <a:gsLst>
                    <a:gs pos="0">
                      <a:srgbClr val="5C307D"/>
                    </a:gs>
                    <a:gs pos="90000">
                      <a:srgbClr val="5C307D">
                        <a:alpha val="0"/>
                      </a:srgb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1C6299"/>
                    </a:gs>
                    <a:gs pos="9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06</a:t>
            </a:r>
            <a:endParaRPr kumimoji="0" lang="zh-CN" altLang="en-US" sz="44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0">
                    <a:srgbClr val="1C6299"/>
                  </a:gs>
                  <a:gs pos="9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57192" y="4633123"/>
            <a:ext cx="1554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测试结果</a:t>
            </a:r>
            <a:endParaRPr kumimoji="0" lang="zh-CN" altLang="en-US" sz="2400" b="1" i="0" u="none" strike="noStrike" kern="1200" cap="none" spc="300" normalizeH="0" baseline="0" noProof="0" dirty="0">
              <a:ln>
                <a:noFill/>
              </a:ln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785242" y="5615724"/>
            <a:ext cx="77787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 spc="300">
                <a:gradFill>
                  <a:gsLst>
                    <a:gs pos="0">
                      <a:srgbClr val="5C307D"/>
                    </a:gs>
                    <a:gs pos="90000">
                      <a:srgbClr val="5C307D">
                        <a:alpha val="0"/>
                      </a:srgb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1C6299"/>
                    </a:gs>
                    <a:gs pos="9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07</a:t>
            </a:r>
            <a:endParaRPr kumimoji="0" lang="zh-CN" altLang="en-US" sz="44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0">
                    <a:srgbClr val="1C6299"/>
                  </a:gs>
                  <a:gs pos="9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83667" y="6004088"/>
            <a:ext cx="25831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项目总结与展望</a:t>
            </a:r>
            <a:endParaRPr kumimoji="0" lang="zh-CN" altLang="en-US" sz="2400" b="1" i="0" u="none" strike="noStrike" kern="1200" cap="none" spc="300" normalizeH="0" baseline="0" noProof="0" dirty="0">
              <a:ln>
                <a:noFill/>
              </a:ln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862577" y="5662714"/>
            <a:ext cx="85788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 spc="300">
                <a:gradFill>
                  <a:gsLst>
                    <a:gs pos="0">
                      <a:srgbClr val="5C307D"/>
                    </a:gs>
                    <a:gs pos="90000">
                      <a:srgbClr val="5C307D">
                        <a:alpha val="0"/>
                      </a:srgb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1C6299"/>
                    </a:gs>
                    <a:gs pos="9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08</a:t>
            </a:r>
            <a:endParaRPr kumimoji="0" lang="zh-CN" altLang="en-US" sz="44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0">
                    <a:srgbClr val="1C6299"/>
                  </a:gs>
                  <a:gs pos="9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961002" y="6051078"/>
            <a:ext cx="868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致谢</a:t>
            </a:r>
            <a:endParaRPr kumimoji="0" lang="zh-CN" altLang="en-US" sz="2400" b="1" i="0" u="none" strike="noStrike" kern="1200" cap="none" spc="300" normalizeH="0" baseline="0" noProof="0" dirty="0">
              <a:ln>
                <a:noFill/>
              </a:ln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58171" y="2105561"/>
            <a:ext cx="221406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98052">
                      <a:schemeClr val="bg1"/>
                    </a:gs>
                    <a:gs pos="0">
                      <a:srgbClr val="1C6299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98052">
                    <a:schemeClr val="bg1"/>
                  </a:gs>
                  <a:gs pos="0">
                    <a:srgbClr val="1C6299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560176" y="2143126"/>
            <a:ext cx="6713702" cy="1035858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10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项目背景与意义</a:t>
            </a:r>
            <a:endParaRPr kumimoji="0" lang="zh-CN" altLang="en-US" sz="4000" b="1" i="0" u="none" strike="noStrike" kern="1200" cap="none" spc="10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" name="文本占位符 2"/>
          <p:cNvSpPr txBox="1"/>
          <p:nvPr/>
        </p:nvSpPr>
        <p:spPr>
          <a:xfrm>
            <a:off x="5560176" y="3787775"/>
            <a:ext cx="6792912" cy="92710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 spc="1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Project Background and Significance</a:t>
            </a: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619693" y="2143125"/>
            <a:ext cx="0" cy="257175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Dot"/>
            <a:miter lim="800000"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5560176" y="3432579"/>
            <a:ext cx="720000" cy="1016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905" y="624205"/>
            <a:ext cx="6402070" cy="5919470"/>
          </a:xfrm>
          <a:prstGeom prst="rect">
            <a:avLst/>
          </a:prstGeom>
        </p:spPr>
      </p:pic>
      <p:grpSp>
        <p:nvGrpSpPr>
          <p:cNvPr id="93" name="组合 92"/>
          <p:cNvGrpSpPr/>
          <p:nvPr/>
        </p:nvGrpSpPr>
        <p:grpSpPr>
          <a:xfrm>
            <a:off x="20880646" y="1396937"/>
            <a:ext cx="5048885" cy="1486535"/>
            <a:chOff x="1591970" y="812608"/>
            <a:chExt cx="5048885" cy="1486535"/>
          </a:xfrm>
        </p:grpSpPr>
        <p:sp>
          <p:nvSpPr>
            <p:cNvPr id="94" name="TextBox 205"/>
            <p:cNvSpPr txBox="1"/>
            <p:nvPr/>
          </p:nvSpPr>
          <p:spPr>
            <a:xfrm>
              <a:off x="1591970" y="1474913"/>
              <a:ext cx="5048885" cy="82423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/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数字化转型：实现图书借阅全流程数字化，提升管理效率。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用户体验：提供便捷的检索与借阅服务，打破时间空间限制。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技术实践：探索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Spring Boot 3 + Vue 3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全栈开发模式，实践前后端分离架构。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5" name="TextBox 205"/>
            <p:cNvSpPr txBox="1"/>
            <p:nvPr/>
          </p:nvSpPr>
          <p:spPr>
            <a:xfrm>
              <a:off x="1692300" y="812608"/>
              <a:ext cx="243134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defTabSz="137541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6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研究意义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14022833" y="3661239"/>
            <a:ext cx="5165090" cy="1621790"/>
            <a:chOff x="-1139165" y="72198"/>
            <a:chExt cx="5165090" cy="1621790"/>
          </a:xfrm>
        </p:grpSpPr>
        <p:sp>
          <p:nvSpPr>
            <p:cNvPr id="97" name="TextBox 205"/>
            <p:cNvSpPr txBox="1"/>
            <p:nvPr/>
          </p:nvSpPr>
          <p:spPr>
            <a:xfrm>
              <a:off x="-790550" y="731328"/>
              <a:ext cx="4816475" cy="96266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/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传统图书馆管理依赖人工，效率低下，数据易出错。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Web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技术飞速发展，用户对交互体验和响应速度要求提高。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8" name="TextBox 205"/>
            <p:cNvSpPr txBox="1"/>
            <p:nvPr/>
          </p:nvSpPr>
          <p:spPr>
            <a:xfrm>
              <a:off x="-1139165" y="72198"/>
              <a:ext cx="3404870" cy="8870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R="0" lvl="0" indent="0" algn="ctr" defTabSz="137541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6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项目背景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17325913" y="1205370"/>
            <a:ext cx="5355520" cy="5226924"/>
            <a:chOff x="3418240" y="1100851"/>
            <a:chExt cx="5355520" cy="5226924"/>
          </a:xfrm>
        </p:grpSpPr>
        <p:grpSp>
          <p:nvGrpSpPr>
            <p:cNvPr id="100" name="组合 99"/>
            <p:cNvGrpSpPr/>
            <p:nvPr/>
          </p:nvGrpSpPr>
          <p:grpSpPr>
            <a:xfrm rot="60000">
              <a:off x="3418240" y="1100851"/>
              <a:ext cx="5355520" cy="5226924"/>
              <a:chOff x="3775367" y="815538"/>
              <a:chExt cx="5355520" cy="5226924"/>
            </a:xfrm>
          </p:grpSpPr>
          <p:sp>
            <p:nvSpPr>
              <p:cNvPr id="101" name="îṧ1îdê"/>
              <p:cNvSpPr/>
              <p:nvPr/>
            </p:nvSpPr>
            <p:spPr bwMode="auto">
              <a:xfrm rot="2783601">
                <a:off x="5910432" y="2915096"/>
                <a:ext cx="3120970" cy="3133762"/>
              </a:xfrm>
              <a:custGeom>
                <a:avLst/>
                <a:gdLst>
                  <a:gd name="T0" fmla="*/ 536 w 1238"/>
                  <a:gd name="T1" fmla="*/ 1123 h 1241"/>
                  <a:gd name="T2" fmla="*/ 622 w 1238"/>
                  <a:gd name="T3" fmla="*/ 908 h 1241"/>
                  <a:gd name="T4" fmla="*/ 706 w 1238"/>
                  <a:gd name="T5" fmla="*/ 707 h 1241"/>
                  <a:gd name="T6" fmla="*/ 907 w 1238"/>
                  <a:gd name="T7" fmla="*/ 622 h 1241"/>
                  <a:gd name="T8" fmla="*/ 1122 w 1238"/>
                  <a:gd name="T9" fmla="*/ 535 h 1241"/>
                  <a:gd name="T10" fmla="*/ 1122 w 1238"/>
                  <a:gd name="T11" fmla="*/ 115 h 1241"/>
                  <a:gd name="T12" fmla="*/ 702 w 1238"/>
                  <a:gd name="T13" fmla="*/ 116 h 1241"/>
                  <a:gd name="T14" fmla="*/ 615 w 1238"/>
                  <a:gd name="T15" fmla="*/ 332 h 1241"/>
                  <a:gd name="T16" fmla="*/ 532 w 1238"/>
                  <a:gd name="T17" fmla="*/ 534 h 1241"/>
                  <a:gd name="T18" fmla="*/ 331 w 1238"/>
                  <a:gd name="T19" fmla="*/ 618 h 1241"/>
                  <a:gd name="T20" fmla="*/ 116 w 1238"/>
                  <a:gd name="T21" fmla="*/ 705 h 1241"/>
                  <a:gd name="T22" fmla="*/ 116 w 1238"/>
                  <a:gd name="T23" fmla="*/ 1125 h 1241"/>
                  <a:gd name="T24" fmla="*/ 536 w 1238"/>
                  <a:gd name="T25" fmla="*/ 1123 h 1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8" h="1241">
                    <a:moveTo>
                      <a:pt x="536" y="1123"/>
                    </a:moveTo>
                    <a:cubicBezTo>
                      <a:pt x="595" y="1064"/>
                      <a:pt x="624" y="986"/>
                      <a:pt x="622" y="908"/>
                    </a:cubicBezTo>
                    <a:cubicBezTo>
                      <a:pt x="622" y="835"/>
                      <a:pt x="650" y="763"/>
                      <a:pt x="706" y="707"/>
                    </a:cubicBezTo>
                    <a:cubicBezTo>
                      <a:pt x="761" y="651"/>
                      <a:pt x="834" y="623"/>
                      <a:pt x="907" y="622"/>
                    </a:cubicBezTo>
                    <a:cubicBezTo>
                      <a:pt x="985" y="623"/>
                      <a:pt x="1063" y="594"/>
                      <a:pt x="1122" y="535"/>
                    </a:cubicBezTo>
                    <a:cubicBezTo>
                      <a:pt x="1238" y="419"/>
                      <a:pt x="1237" y="231"/>
                      <a:pt x="1122" y="115"/>
                    </a:cubicBezTo>
                    <a:cubicBezTo>
                      <a:pt x="1006" y="0"/>
                      <a:pt x="818" y="0"/>
                      <a:pt x="702" y="116"/>
                    </a:cubicBezTo>
                    <a:cubicBezTo>
                      <a:pt x="643" y="176"/>
                      <a:pt x="613" y="254"/>
                      <a:pt x="615" y="332"/>
                    </a:cubicBezTo>
                    <a:cubicBezTo>
                      <a:pt x="615" y="405"/>
                      <a:pt x="588" y="478"/>
                      <a:pt x="532" y="534"/>
                    </a:cubicBezTo>
                    <a:cubicBezTo>
                      <a:pt x="477" y="589"/>
                      <a:pt x="404" y="618"/>
                      <a:pt x="331" y="618"/>
                    </a:cubicBezTo>
                    <a:cubicBezTo>
                      <a:pt x="253" y="616"/>
                      <a:pt x="175" y="646"/>
                      <a:pt x="116" y="705"/>
                    </a:cubicBezTo>
                    <a:cubicBezTo>
                      <a:pt x="0" y="822"/>
                      <a:pt x="0" y="1010"/>
                      <a:pt x="116" y="1125"/>
                    </a:cubicBezTo>
                    <a:cubicBezTo>
                      <a:pt x="232" y="1241"/>
                      <a:pt x="420" y="1240"/>
                      <a:pt x="536" y="1123"/>
                    </a:cubicBezTo>
                    <a:close/>
                  </a:path>
                </a:pathLst>
              </a:custGeom>
              <a:solidFill>
                <a:srgbClr val="1C6299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wrap="square" lIns="91440" tIns="45720" rIns="91440" bIns="45720" rtlCol="0" anchor="b">
                <a:normAutofit/>
              </a:bodyPr>
              <a:lstStyle/>
              <a:p>
                <a:pPr marL="0" marR="0" lvl="0" indent="0" algn="ctr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2" name="îṧļiḓê"/>
              <p:cNvSpPr/>
              <p:nvPr/>
            </p:nvSpPr>
            <p:spPr bwMode="auto">
              <a:xfrm rot="8027341">
                <a:off x="3876753" y="807543"/>
                <a:ext cx="3119903" cy="3135893"/>
              </a:xfrm>
              <a:custGeom>
                <a:avLst/>
                <a:gdLst>
                  <a:gd name="T0" fmla="*/ 1122 w 1238"/>
                  <a:gd name="T1" fmla="*/ 707 h 1242"/>
                  <a:gd name="T2" fmla="*/ 907 w 1238"/>
                  <a:gd name="T3" fmla="*/ 619 h 1242"/>
                  <a:gd name="T4" fmla="*/ 706 w 1238"/>
                  <a:gd name="T5" fmla="*/ 535 h 1242"/>
                  <a:gd name="T6" fmla="*/ 622 w 1238"/>
                  <a:gd name="T7" fmla="*/ 333 h 1242"/>
                  <a:gd name="T8" fmla="*/ 536 w 1238"/>
                  <a:gd name="T9" fmla="*/ 117 h 1242"/>
                  <a:gd name="T10" fmla="*/ 117 w 1238"/>
                  <a:gd name="T11" fmla="*/ 116 h 1242"/>
                  <a:gd name="T12" fmla="*/ 116 w 1238"/>
                  <a:gd name="T13" fmla="*/ 535 h 1242"/>
                  <a:gd name="T14" fmla="*/ 331 w 1238"/>
                  <a:gd name="T15" fmla="*/ 623 h 1242"/>
                  <a:gd name="T16" fmla="*/ 532 w 1238"/>
                  <a:gd name="T17" fmla="*/ 708 h 1242"/>
                  <a:gd name="T18" fmla="*/ 615 w 1238"/>
                  <a:gd name="T19" fmla="*/ 909 h 1242"/>
                  <a:gd name="T20" fmla="*/ 701 w 1238"/>
                  <a:gd name="T21" fmla="*/ 1125 h 1242"/>
                  <a:gd name="T22" fmla="*/ 1121 w 1238"/>
                  <a:gd name="T23" fmla="*/ 1127 h 1242"/>
                  <a:gd name="T24" fmla="*/ 1122 w 1238"/>
                  <a:gd name="T25" fmla="*/ 707 h 1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8" h="1242">
                    <a:moveTo>
                      <a:pt x="1122" y="707"/>
                    </a:moveTo>
                    <a:cubicBezTo>
                      <a:pt x="1063" y="647"/>
                      <a:pt x="985" y="618"/>
                      <a:pt x="907" y="619"/>
                    </a:cubicBezTo>
                    <a:cubicBezTo>
                      <a:pt x="834" y="619"/>
                      <a:pt x="762" y="591"/>
                      <a:pt x="706" y="535"/>
                    </a:cubicBezTo>
                    <a:cubicBezTo>
                      <a:pt x="650" y="479"/>
                      <a:pt x="623" y="406"/>
                      <a:pt x="622" y="333"/>
                    </a:cubicBezTo>
                    <a:cubicBezTo>
                      <a:pt x="624" y="255"/>
                      <a:pt x="595" y="177"/>
                      <a:pt x="536" y="117"/>
                    </a:cubicBezTo>
                    <a:cubicBezTo>
                      <a:pt x="421" y="1"/>
                      <a:pt x="233" y="0"/>
                      <a:pt x="117" y="116"/>
                    </a:cubicBezTo>
                    <a:cubicBezTo>
                      <a:pt x="1" y="231"/>
                      <a:pt x="0" y="419"/>
                      <a:pt x="116" y="535"/>
                    </a:cubicBezTo>
                    <a:cubicBezTo>
                      <a:pt x="175" y="595"/>
                      <a:pt x="253" y="625"/>
                      <a:pt x="331" y="623"/>
                    </a:cubicBezTo>
                    <a:cubicBezTo>
                      <a:pt x="404" y="623"/>
                      <a:pt x="477" y="652"/>
                      <a:pt x="532" y="708"/>
                    </a:cubicBezTo>
                    <a:cubicBezTo>
                      <a:pt x="587" y="763"/>
                      <a:pt x="615" y="836"/>
                      <a:pt x="615" y="909"/>
                    </a:cubicBezTo>
                    <a:cubicBezTo>
                      <a:pt x="613" y="987"/>
                      <a:pt x="642" y="1065"/>
                      <a:pt x="701" y="1125"/>
                    </a:cubicBezTo>
                    <a:cubicBezTo>
                      <a:pt x="817" y="1241"/>
                      <a:pt x="1005" y="1242"/>
                      <a:pt x="1121" y="1127"/>
                    </a:cubicBezTo>
                    <a:cubicBezTo>
                      <a:pt x="1237" y="1011"/>
                      <a:pt x="1238" y="824"/>
                      <a:pt x="1122" y="707"/>
                    </a:cubicBezTo>
                    <a:close/>
                  </a:path>
                </a:pathLst>
              </a:custGeom>
              <a:solidFill>
                <a:srgbClr val="1C6299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wrap="square" lIns="91440" tIns="45720" rIns="91440" bIns="45720" rtlCol="0" anchor="b">
                <a:normAutofit/>
              </a:bodyPr>
              <a:lstStyle/>
              <a:p>
                <a:pPr marL="0" marR="0" lvl="0" indent="0" algn="ctr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grpSp>
            <p:nvGrpSpPr>
              <p:cNvPr id="103" name="组合 102"/>
              <p:cNvGrpSpPr/>
              <p:nvPr/>
            </p:nvGrpSpPr>
            <p:grpSpPr>
              <a:xfrm>
                <a:off x="3775367" y="1751978"/>
                <a:ext cx="5355520" cy="3341782"/>
                <a:chOff x="3775367" y="1751978"/>
                <a:chExt cx="5355520" cy="3341782"/>
              </a:xfrm>
            </p:grpSpPr>
            <p:sp>
              <p:nvSpPr>
                <p:cNvPr id="104" name="ïślidê"/>
                <p:cNvSpPr/>
                <p:nvPr/>
              </p:nvSpPr>
              <p:spPr bwMode="auto">
                <a:xfrm rot="2783601">
                  <a:off x="4893175" y="1843948"/>
                  <a:ext cx="3119904" cy="3135893"/>
                </a:xfrm>
                <a:custGeom>
                  <a:avLst/>
                  <a:gdLst>
                    <a:gd name="T0" fmla="*/ 1122 w 1238"/>
                    <a:gd name="T1" fmla="*/ 707 h 1242"/>
                    <a:gd name="T2" fmla="*/ 907 w 1238"/>
                    <a:gd name="T3" fmla="*/ 619 h 1242"/>
                    <a:gd name="T4" fmla="*/ 706 w 1238"/>
                    <a:gd name="T5" fmla="*/ 535 h 1242"/>
                    <a:gd name="T6" fmla="*/ 622 w 1238"/>
                    <a:gd name="T7" fmla="*/ 333 h 1242"/>
                    <a:gd name="T8" fmla="*/ 536 w 1238"/>
                    <a:gd name="T9" fmla="*/ 117 h 1242"/>
                    <a:gd name="T10" fmla="*/ 117 w 1238"/>
                    <a:gd name="T11" fmla="*/ 116 h 1242"/>
                    <a:gd name="T12" fmla="*/ 116 w 1238"/>
                    <a:gd name="T13" fmla="*/ 535 h 1242"/>
                    <a:gd name="T14" fmla="*/ 331 w 1238"/>
                    <a:gd name="T15" fmla="*/ 623 h 1242"/>
                    <a:gd name="T16" fmla="*/ 532 w 1238"/>
                    <a:gd name="T17" fmla="*/ 708 h 1242"/>
                    <a:gd name="T18" fmla="*/ 615 w 1238"/>
                    <a:gd name="T19" fmla="*/ 909 h 1242"/>
                    <a:gd name="T20" fmla="*/ 701 w 1238"/>
                    <a:gd name="T21" fmla="*/ 1125 h 1242"/>
                    <a:gd name="T22" fmla="*/ 1121 w 1238"/>
                    <a:gd name="T23" fmla="*/ 1127 h 1242"/>
                    <a:gd name="T24" fmla="*/ 1122 w 1238"/>
                    <a:gd name="T25" fmla="*/ 707 h 1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238" h="1242">
                      <a:moveTo>
                        <a:pt x="1122" y="707"/>
                      </a:moveTo>
                      <a:cubicBezTo>
                        <a:pt x="1063" y="647"/>
                        <a:pt x="985" y="618"/>
                        <a:pt x="907" y="619"/>
                      </a:cubicBezTo>
                      <a:cubicBezTo>
                        <a:pt x="834" y="619"/>
                        <a:pt x="762" y="591"/>
                        <a:pt x="706" y="535"/>
                      </a:cubicBezTo>
                      <a:cubicBezTo>
                        <a:pt x="650" y="479"/>
                        <a:pt x="623" y="406"/>
                        <a:pt x="622" y="333"/>
                      </a:cubicBezTo>
                      <a:cubicBezTo>
                        <a:pt x="624" y="255"/>
                        <a:pt x="595" y="177"/>
                        <a:pt x="536" y="117"/>
                      </a:cubicBezTo>
                      <a:cubicBezTo>
                        <a:pt x="421" y="1"/>
                        <a:pt x="233" y="0"/>
                        <a:pt x="117" y="116"/>
                      </a:cubicBezTo>
                      <a:cubicBezTo>
                        <a:pt x="1" y="231"/>
                        <a:pt x="0" y="419"/>
                        <a:pt x="116" y="535"/>
                      </a:cubicBezTo>
                      <a:cubicBezTo>
                        <a:pt x="175" y="595"/>
                        <a:pt x="253" y="625"/>
                        <a:pt x="331" y="623"/>
                      </a:cubicBezTo>
                      <a:cubicBezTo>
                        <a:pt x="404" y="623"/>
                        <a:pt x="477" y="652"/>
                        <a:pt x="532" y="708"/>
                      </a:cubicBezTo>
                      <a:cubicBezTo>
                        <a:pt x="587" y="763"/>
                        <a:pt x="615" y="836"/>
                        <a:pt x="615" y="909"/>
                      </a:cubicBezTo>
                      <a:cubicBezTo>
                        <a:pt x="613" y="987"/>
                        <a:pt x="642" y="1065"/>
                        <a:pt x="701" y="1125"/>
                      </a:cubicBezTo>
                      <a:cubicBezTo>
                        <a:pt x="817" y="1241"/>
                        <a:pt x="1005" y="1242"/>
                        <a:pt x="1121" y="1127"/>
                      </a:cubicBezTo>
                      <a:cubicBezTo>
                        <a:pt x="1237" y="1011"/>
                        <a:pt x="1238" y="824"/>
                        <a:pt x="1122" y="707"/>
                      </a:cubicBezTo>
                      <a:close/>
                    </a:path>
                  </a:pathLst>
                </a:custGeom>
                <a:solidFill>
                  <a:srgbClr val="1C6299"/>
                </a:solidFill>
                <a:ln w="12700" cap="flat" cmpd="sng" algn="ctr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lIns="91440" tIns="45720" rIns="91440" bIns="45720" rtlCol="0" anchor="b">
                  <a:normAutofit/>
                </a:bodyPr>
                <a:lstStyle/>
                <a:p>
                  <a:pPr marL="0" marR="0" lvl="0" indent="0" algn="ctr" defTabSz="12185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ís1îḋe"/>
                <p:cNvSpPr/>
                <p:nvPr/>
              </p:nvSpPr>
              <p:spPr bwMode="auto">
                <a:xfrm rot="2783601">
                  <a:off x="3776738" y="1766649"/>
                  <a:ext cx="1214938" cy="1217680"/>
                </a:xfrm>
                <a:custGeom>
                  <a:avLst/>
                  <a:gdLst>
                    <a:gd name="T0" fmla="*/ 99 w 562"/>
                    <a:gd name="T1" fmla="*/ 461 h 562"/>
                    <a:gd name="T2" fmla="*/ 100 w 562"/>
                    <a:gd name="T3" fmla="*/ 99 h 562"/>
                    <a:gd name="T4" fmla="*/ 462 w 562"/>
                    <a:gd name="T5" fmla="*/ 101 h 562"/>
                    <a:gd name="T6" fmla="*/ 461 w 562"/>
                    <a:gd name="T7" fmla="*/ 462 h 562"/>
                    <a:gd name="T8" fmla="*/ 99 w 562"/>
                    <a:gd name="T9" fmla="*/ 461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2" h="562">
                      <a:moveTo>
                        <a:pt x="99" y="461"/>
                      </a:moveTo>
                      <a:cubicBezTo>
                        <a:pt x="0" y="361"/>
                        <a:pt x="0" y="199"/>
                        <a:pt x="100" y="99"/>
                      </a:cubicBezTo>
                      <a:cubicBezTo>
                        <a:pt x="200" y="0"/>
                        <a:pt x="362" y="0"/>
                        <a:pt x="462" y="101"/>
                      </a:cubicBezTo>
                      <a:cubicBezTo>
                        <a:pt x="562" y="201"/>
                        <a:pt x="561" y="363"/>
                        <a:pt x="461" y="462"/>
                      </a:cubicBezTo>
                      <a:cubicBezTo>
                        <a:pt x="361" y="562"/>
                        <a:pt x="199" y="561"/>
                        <a:pt x="99" y="46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875" cap="flat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ctr" anchorCtr="0" compatLnSpc="1">
                  <a:norm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06" name="ís1îḋe"/>
                <p:cNvSpPr/>
                <p:nvPr/>
              </p:nvSpPr>
              <p:spPr bwMode="auto">
                <a:xfrm rot="2783601">
                  <a:off x="5898091" y="1750607"/>
                  <a:ext cx="1214938" cy="1217680"/>
                </a:xfrm>
                <a:custGeom>
                  <a:avLst/>
                  <a:gdLst>
                    <a:gd name="T0" fmla="*/ 99 w 562"/>
                    <a:gd name="T1" fmla="*/ 461 h 562"/>
                    <a:gd name="T2" fmla="*/ 100 w 562"/>
                    <a:gd name="T3" fmla="*/ 99 h 562"/>
                    <a:gd name="T4" fmla="*/ 462 w 562"/>
                    <a:gd name="T5" fmla="*/ 101 h 562"/>
                    <a:gd name="T6" fmla="*/ 461 w 562"/>
                    <a:gd name="T7" fmla="*/ 462 h 562"/>
                    <a:gd name="T8" fmla="*/ 99 w 562"/>
                    <a:gd name="T9" fmla="*/ 461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2" h="562">
                      <a:moveTo>
                        <a:pt x="99" y="461"/>
                      </a:moveTo>
                      <a:cubicBezTo>
                        <a:pt x="0" y="361"/>
                        <a:pt x="0" y="199"/>
                        <a:pt x="100" y="99"/>
                      </a:cubicBezTo>
                      <a:cubicBezTo>
                        <a:pt x="200" y="0"/>
                        <a:pt x="362" y="0"/>
                        <a:pt x="462" y="101"/>
                      </a:cubicBezTo>
                      <a:cubicBezTo>
                        <a:pt x="562" y="201"/>
                        <a:pt x="561" y="363"/>
                        <a:pt x="461" y="462"/>
                      </a:cubicBezTo>
                      <a:cubicBezTo>
                        <a:pt x="361" y="562"/>
                        <a:pt x="199" y="561"/>
                        <a:pt x="99" y="46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875" cap="flat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ctr" anchorCtr="0" compatLnSpc="1">
                  <a:norm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ís1îḋe"/>
                <p:cNvSpPr/>
                <p:nvPr/>
              </p:nvSpPr>
              <p:spPr bwMode="auto">
                <a:xfrm rot="2783601">
                  <a:off x="5829100" y="3845366"/>
                  <a:ext cx="1214938" cy="1217680"/>
                </a:xfrm>
                <a:custGeom>
                  <a:avLst/>
                  <a:gdLst>
                    <a:gd name="T0" fmla="*/ 99 w 562"/>
                    <a:gd name="T1" fmla="*/ 461 h 562"/>
                    <a:gd name="T2" fmla="*/ 100 w 562"/>
                    <a:gd name="T3" fmla="*/ 99 h 562"/>
                    <a:gd name="T4" fmla="*/ 462 w 562"/>
                    <a:gd name="T5" fmla="*/ 101 h 562"/>
                    <a:gd name="T6" fmla="*/ 461 w 562"/>
                    <a:gd name="T7" fmla="*/ 462 h 562"/>
                    <a:gd name="T8" fmla="*/ 99 w 562"/>
                    <a:gd name="T9" fmla="*/ 461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2" h="562">
                      <a:moveTo>
                        <a:pt x="99" y="461"/>
                      </a:moveTo>
                      <a:cubicBezTo>
                        <a:pt x="0" y="361"/>
                        <a:pt x="0" y="199"/>
                        <a:pt x="100" y="99"/>
                      </a:cubicBezTo>
                      <a:cubicBezTo>
                        <a:pt x="200" y="0"/>
                        <a:pt x="362" y="0"/>
                        <a:pt x="462" y="101"/>
                      </a:cubicBezTo>
                      <a:cubicBezTo>
                        <a:pt x="562" y="201"/>
                        <a:pt x="561" y="363"/>
                        <a:pt x="461" y="462"/>
                      </a:cubicBezTo>
                      <a:cubicBezTo>
                        <a:pt x="361" y="562"/>
                        <a:pt x="199" y="561"/>
                        <a:pt x="99" y="46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875" cap="flat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ctr" anchorCtr="0" compatLnSpc="1">
                  <a:norm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ís1îḋe"/>
                <p:cNvSpPr/>
                <p:nvPr/>
              </p:nvSpPr>
              <p:spPr bwMode="auto">
                <a:xfrm rot="2783601">
                  <a:off x="7914578" y="3877451"/>
                  <a:ext cx="1214938" cy="1217680"/>
                </a:xfrm>
                <a:custGeom>
                  <a:avLst/>
                  <a:gdLst>
                    <a:gd name="T0" fmla="*/ 99 w 562"/>
                    <a:gd name="T1" fmla="*/ 461 h 562"/>
                    <a:gd name="T2" fmla="*/ 100 w 562"/>
                    <a:gd name="T3" fmla="*/ 99 h 562"/>
                    <a:gd name="T4" fmla="*/ 462 w 562"/>
                    <a:gd name="T5" fmla="*/ 101 h 562"/>
                    <a:gd name="T6" fmla="*/ 461 w 562"/>
                    <a:gd name="T7" fmla="*/ 462 h 562"/>
                    <a:gd name="T8" fmla="*/ 99 w 562"/>
                    <a:gd name="T9" fmla="*/ 461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2" h="562">
                      <a:moveTo>
                        <a:pt x="99" y="461"/>
                      </a:moveTo>
                      <a:cubicBezTo>
                        <a:pt x="0" y="361"/>
                        <a:pt x="0" y="199"/>
                        <a:pt x="100" y="99"/>
                      </a:cubicBezTo>
                      <a:cubicBezTo>
                        <a:pt x="200" y="0"/>
                        <a:pt x="362" y="0"/>
                        <a:pt x="462" y="101"/>
                      </a:cubicBezTo>
                      <a:cubicBezTo>
                        <a:pt x="562" y="201"/>
                        <a:pt x="561" y="363"/>
                        <a:pt x="461" y="462"/>
                      </a:cubicBezTo>
                      <a:cubicBezTo>
                        <a:pt x="361" y="562"/>
                        <a:pt x="199" y="561"/>
                        <a:pt x="99" y="46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875" cap="flat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ctr" anchorCtr="0" compatLnSpc="1">
                  <a:norm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109" name="图片 108"/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0697" y="2325861"/>
              <a:ext cx="576000" cy="576000"/>
            </a:xfrm>
            <a:prstGeom prst="rect">
              <a:avLst/>
            </a:prstGeom>
          </p:spPr>
        </p:pic>
        <p:pic>
          <p:nvPicPr>
            <p:cNvPr id="110" name="图片 109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5218" y="2366949"/>
              <a:ext cx="540000" cy="540000"/>
            </a:xfrm>
            <a:prstGeom prst="rect">
              <a:avLst/>
            </a:prstGeom>
          </p:spPr>
        </p:pic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6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4622" y="4481699"/>
              <a:ext cx="540000" cy="540000"/>
            </a:xfrm>
            <a:prstGeom prst="rect">
              <a:avLst/>
            </a:prstGeom>
          </p:spPr>
        </p:pic>
        <p:pic>
          <p:nvPicPr>
            <p:cNvPr id="112" name="图片 111"/>
            <p:cNvPicPr>
              <a:picLocks noChangeAspect="1"/>
            </p:cNvPicPr>
            <p:nvPr/>
          </p:nvPicPr>
          <p:blipFill>
            <a:blip r:embed="rId7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5524" y="4490028"/>
              <a:ext cx="540000" cy="540000"/>
            </a:xfrm>
            <a:prstGeom prst="rect">
              <a:avLst/>
            </a:prstGeom>
          </p:spPr>
        </p:pic>
      </p:grpSp>
      <p:cxnSp>
        <p:nvCxnSpPr>
          <p:cNvPr id="113" name="直接连接符 112"/>
          <p:cNvCxnSpPr/>
          <p:nvPr/>
        </p:nvCxnSpPr>
        <p:spPr>
          <a:xfrm>
            <a:off x="14397990" y="78835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114" name="标题占位符 1"/>
          <p:cNvSpPr txBox="1"/>
          <p:nvPr/>
        </p:nvSpPr>
        <p:spPr>
          <a:xfrm>
            <a:off x="14702790" y="-7207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项目背景与意义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13941350" y="187668"/>
            <a:ext cx="725344" cy="619478"/>
            <a:chOff x="178632" y="159728"/>
            <a:chExt cx="725344" cy="619478"/>
          </a:xfrm>
        </p:grpSpPr>
        <p:sp>
          <p:nvSpPr>
            <p:cNvPr id="116" name="椭圆 115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8" name="椭圆 117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9" name="文本框 118"/>
          <p:cNvSpPr txBox="1"/>
          <p:nvPr/>
        </p:nvSpPr>
        <p:spPr>
          <a:xfrm>
            <a:off x="14397990" y="661158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2503" y="204318"/>
            <a:ext cx="1897854" cy="555905"/>
          </a:xfrm>
          <a:prstGeom prst="rect">
            <a:avLst/>
          </a:prstGeom>
        </p:spPr>
      </p:pic>
      <p:sp>
        <p:nvSpPr>
          <p:cNvPr id="121" name="矩形 120"/>
          <p:cNvSpPr/>
          <p:nvPr/>
        </p:nvSpPr>
        <p:spPr>
          <a:xfrm>
            <a:off x="13864590" y="672494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14458680" y="673858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3002382" y="673858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7143056" y="1368997"/>
            <a:ext cx="5048885" cy="1486535"/>
            <a:chOff x="1591970" y="812608"/>
            <a:chExt cx="5048885" cy="1486535"/>
          </a:xfrm>
        </p:grpSpPr>
        <p:sp>
          <p:nvSpPr>
            <p:cNvPr id="42" name="TextBox 205"/>
            <p:cNvSpPr txBox="1"/>
            <p:nvPr/>
          </p:nvSpPr>
          <p:spPr>
            <a:xfrm>
              <a:off x="1591970" y="1474913"/>
              <a:ext cx="5048885" cy="82423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/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数字化转型：实现图书借阅全流程数字化，提升管理效率。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用户体验：提供便捷的检索与借阅服务，打破时间空间限制。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技术实践：探索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Spring Boot 3 + Vue 3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全栈开发模式，实践前后端分离架构。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TextBox 205"/>
            <p:cNvSpPr txBox="1"/>
            <p:nvPr/>
          </p:nvSpPr>
          <p:spPr>
            <a:xfrm>
              <a:off x="1692300" y="812608"/>
              <a:ext cx="243134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defTabSz="137541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6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研究意义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285243" y="3633299"/>
            <a:ext cx="5165090" cy="1621790"/>
            <a:chOff x="-1139165" y="72198"/>
            <a:chExt cx="5165090" cy="1621790"/>
          </a:xfrm>
        </p:grpSpPr>
        <p:sp>
          <p:nvSpPr>
            <p:cNvPr id="45" name="TextBox 205"/>
            <p:cNvSpPr txBox="1"/>
            <p:nvPr/>
          </p:nvSpPr>
          <p:spPr>
            <a:xfrm>
              <a:off x="-790550" y="731328"/>
              <a:ext cx="4816475" cy="96266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/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传统图书馆管理依赖人工，效率低下，数据易出错。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Web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技术飞速发展，用户对交互体验和响应速度要求提高。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TextBox 205"/>
            <p:cNvSpPr txBox="1"/>
            <p:nvPr/>
          </p:nvSpPr>
          <p:spPr>
            <a:xfrm>
              <a:off x="-1139165" y="72198"/>
              <a:ext cx="3404870" cy="8870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R="0" lvl="0" indent="0" algn="ctr" defTabSz="137541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6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项目背景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588323" y="1177430"/>
            <a:ext cx="5355520" cy="5226924"/>
            <a:chOff x="3418240" y="1100851"/>
            <a:chExt cx="5355520" cy="5226924"/>
          </a:xfrm>
        </p:grpSpPr>
        <p:grpSp>
          <p:nvGrpSpPr>
            <p:cNvPr id="26" name="组合 25"/>
            <p:cNvGrpSpPr/>
            <p:nvPr/>
          </p:nvGrpSpPr>
          <p:grpSpPr>
            <a:xfrm rot="60000">
              <a:off x="3418240" y="1100851"/>
              <a:ext cx="5355520" cy="5226924"/>
              <a:chOff x="3775367" y="815538"/>
              <a:chExt cx="5355520" cy="5226924"/>
            </a:xfrm>
          </p:grpSpPr>
          <p:sp>
            <p:nvSpPr>
              <p:cNvPr id="27" name="îṧ1îdê"/>
              <p:cNvSpPr/>
              <p:nvPr/>
            </p:nvSpPr>
            <p:spPr bwMode="auto">
              <a:xfrm rot="2783601">
                <a:off x="5910432" y="2915096"/>
                <a:ext cx="3120970" cy="3133762"/>
              </a:xfrm>
              <a:custGeom>
                <a:avLst/>
                <a:gdLst>
                  <a:gd name="T0" fmla="*/ 536 w 1238"/>
                  <a:gd name="T1" fmla="*/ 1123 h 1241"/>
                  <a:gd name="T2" fmla="*/ 622 w 1238"/>
                  <a:gd name="T3" fmla="*/ 908 h 1241"/>
                  <a:gd name="T4" fmla="*/ 706 w 1238"/>
                  <a:gd name="T5" fmla="*/ 707 h 1241"/>
                  <a:gd name="T6" fmla="*/ 907 w 1238"/>
                  <a:gd name="T7" fmla="*/ 622 h 1241"/>
                  <a:gd name="T8" fmla="*/ 1122 w 1238"/>
                  <a:gd name="T9" fmla="*/ 535 h 1241"/>
                  <a:gd name="T10" fmla="*/ 1122 w 1238"/>
                  <a:gd name="T11" fmla="*/ 115 h 1241"/>
                  <a:gd name="T12" fmla="*/ 702 w 1238"/>
                  <a:gd name="T13" fmla="*/ 116 h 1241"/>
                  <a:gd name="T14" fmla="*/ 615 w 1238"/>
                  <a:gd name="T15" fmla="*/ 332 h 1241"/>
                  <a:gd name="T16" fmla="*/ 532 w 1238"/>
                  <a:gd name="T17" fmla="*/ 534 h 1241"/>
                  <a:gd name="T18" fmla="*/ 331 w 1238"/>
                  <a:gd name="T19" fmla="*/ 618 h 1241"/>
                  <a:gd name="T20" fmla="*/ 116 w 1238"/>
                  <a:gd name="T21" fmla="*/ 705 h 1241"/>
                  <a:gd name="T22" fmla="*/ 116 w 1238"/>
                  <a:gd name="T23" fmla="*/ 1125 h 1241"/>
                  <a:gd name="T24" fmla="*/ 536 w 1238"/>
                  <a:gd name="T25" fmla="*/ 1123 h 1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8" h="1241">
                    <a:moveTo>
                      <a:pt x="536" y="1123"/>
                    </a:moveTo>
                    <a:cubicBezTo>
                      <a:pt x="595" y="1064"/>
                      <a:pt x="624" y="986"/>
                      <a:pt x="622" y="908"/>
                    </a:cubicBezTo>
                    <a:cubicBezTo>
                      <a:pt x="622" y="835"/>
                      <a:pt x="650" y="763"/>
                      <a:pt x="706" y="707"/>
                    </a:cubicBezTo>
                    <a:cubicBezTo>
                      <a:pt x="761" y="651"/>
                      <a:pt x="834" y="623"/>
                      <a:pt x="907" y="622"/>
                    </a:cubicBezTo>
                    <a:cubicBezTo>
                      <a:pt x="985" y="623"/>
                      <a:pt x="1063" y="594"/>
                      <a:pt x="1122" y="535"/>
                    </a:cubicBezTo>
                    <a:cubicBezTo>
                      <a:pt x="1238" y="419"/>
                      <a:pt x="1237" y="231"/>
                      <a:pt x="1122" y="115"/>
                    </a:cubicBezTo>
                    <a:cubicBezTo>
                      <a:pt x="1006" y="0"/>
                      <a:pt x="818" y="0"/>
                      <a:pt x="702" y="116"/>
                    </a:cubicBezTo>
                    <a:cubicBezTo>
                      <a:pt x="643" y="176"/>
                      <a:pt x="613" y="254"/>
                      <a:pt x="615" y="332"/>
                    </a:cubicBezTo>
                    <a:cubicBezTo>
                      <a:pt x="615" y="405"/>
                      <a:pt x="588" y="478"/>
                      <a:pt x="532" y="534"/>
                    </a:cubicBezTo>
                    <a:cubicBezTo>
                      <a:pt x="477" y="589"/>
                      <a:pt x="404" y="618"/>
                      <a:pt x="331" y="618"/>
                    </a:cubicBezTo>
                    <a:cubicBezTo>
                      <a:pt x="253" y="616"/>
                      <a:pt x="175" y="646"/>
                      <a:pt x="116" y="705"/>
                    </a:cubicBezTo>
                    <a:cubicBezTo>
                      <a:pt x="0" y="822"/>
                      <a:pt x="0" y="1010"/>
                      <a:pt x="116" y="1125"/>
                    </a:cubicBezTo>
                    <a:cubicBezTo>
                      <a:pt x="232" y="1241"/>
                      <a:pt x="420" y="1240"/>
                      <a:pt x="536" y="1123"/>
                    </a:cubicBezTo>
                    <a:close/>
                  </a:path>
                </a:pathLst>
              </a:custGeom>
              <a:solidFill>
                <a:srgbClr val="1C6299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wrap="square" lIns="91440" tIns="45720" rIns="91440" bIns="45720" rtlCol="0" anchor="b">
                <a:normAutofit/>
              </a:bodyPr>
              <a:lstStyle/>
              <a:p>
                <a:pPr marL="0" marR="0" lvl="0" indent="0" algn="ctr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8" name="îṧļiḓê"/>
              <p:cNvSpPr/>
              <p:nvPr/>
            </p:nvSpPr>
            <p:spPr bwMode="auto">
              <a:xfrm rot="8027341">
                <a:off x="3876753" y="807543"/>
                <a:ext cx="3119903" cy="3135893"/>
              </a:xfrm>
              <a:custGeom>
                <a:avLst/>
                <a:gdLst>
                  <a:gd name="T0" fmla="*/ 1122 w 1238"/>
                  <a:gd name="T1" fmla="*/ 707 h 1242"/>
                  <a:gd name="T2" fmla="*/ 907 w 1238"/>
                  <a:gd name="T3" fmla="*/ 619 h 1242"/>
                  <a:gd name="T4" fmla="*/ 706 w 1238"/>
                  <a:gd name="T5" fmla="*/ 535 h 1242"/>
                  <a:gd name="T6" fmla="*/ 622 w 1238"/>
                  <a:gd name="T7" fmla="*/ 333 h 1242"/>
                  <a:gd name="T8" fmla="*/ 536 w 1238"/>
                  <a:gd name="T9" fmla="*/ 117 h 1242"/>
                  <a:gd name="T10" fmla="*/ 117 w 1238"/>
                  <a:gd name="T11" fmla="*/ 116 h 1242"/>
                  <a:gd name="T12" fmla="*/ 116 w 1238"/>
                  <a:gd name="T13" fmla="*/ 535 h 1242"/>
                  <a:gd name="T14" fmla="*/ 331 w 1238"/>
                  <a:gd name="T15" fmla="*/ 623 h 1242"/>
                  <a:gd name="T16" fmla="*/ 532 w 1238"/>
                  <a:gd name="T17" fmla="*/ 708 h 1242"/>
                  <a:gd name="T18" fmla="*/ 615 w 1238"/>
                  <a:gd name="T19" fmla="*/ 909 h 1242"/>
                  <a:gd name="T20" fmla="*/ 701 w 1238"/>
                  <a:gd name="T21" fmla="*/ 1125 h 1242"/>
                  <a:gd name="T22" fmla="*/ 1121 w 1238"/>
                  <a:gd name="T23" fmla="*/ 1127 h 1242"/>
                  <a:gd name="T24" fmla="*/ 1122 w 1238"/>
                  <a:gd name="T25" fmla="*/ 707 h 1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8" h="1242">
                    <a:moveTo>
                      <a:pt x="1122" y="707"/>
                    </a:moveTo>
                    <a:cubicBezTo>
                      <a:pt x="1063" y="647"/>
                      <a:pt x="985" y="618"/>
                      <a:pt x="907" y="619"/>
                    </a:cubicBezTo>
                    <a:cubicBezTo>
                      <a:pt x="834" y="619"/>
                      <a:pt x="762" y="591"/>
                      <a:pt x="706" y="535"/>
                    </a:cubicBezTo>
                    <a:cubicBezTo>
                      <a:pt x="650" y="479"/>
                      <a:pt x="623" y="406"/>
                      <a:pt x="622" y="333"/>
                    </a:cubicBezTo>
                    <a:cubicBezTo>
                      <a:pt x="624" y="255"/>
                      <a:pt x="595" y="177"/>
                      <a:pt x="536" y="117"/>
                    </a:cubicBezTo>
                    <a:cubicBezTo>
                      <a:pt x="421" y="1"/>
                      <a:pt x="233" y="0"/>
                      <a:pt x="117" y="116"/>
                    </a:cubicBezTo>
                    <a:cubicBezTo>
                      <a:pt x="1" y="231"/>
                      <a:pt x="0" y="419"/>
                      <a:pt x="116" y="535"/>
                    </a:cubicBezTo>
                    <a:cubicBezTo>
                      <a:pt x="175" y="595"/>
                      <a:pt x="253" y="625"/>
                      <a:pt x="331" y="623"/>
                    </a:cubicBezTo>
                    <a:cubicBezTo>
                      <a:pt x="404" y="623"/>
                      <a:pt x="477" y="652"/>
                      <a:pt x="532" y="708"/>
                    </a:cubicBezTo>
                    <a:cubicBezTo>
                      <a:pt x="587" y="763"/>
                      <a:pt x="615" y="836"/>
                      <a:pt x="615" y="909"/>
                    </a:cubicBezTo>
                    <a:cubicBezTo>
                      <a:pt x="613" y="987"/>
                      <a:pt x="642" y="1065"/>
                      <a:pt x="701" y="1125"/>
                    </a:cubicBezTo>
                    <a:cubicBezTo>
                      <a:pt x="817" y="1241"/>
                      <a:pt x="1005" y="1242"/>
                      <a:pt x="1121" y="1127"/>
                    </a:cubicBezTo>
                    <a:cubicBezTo>
                      <a:pt x="1237" y="1011"/>
                      <a:pt x="1238" y="824"/>
                      <a:pt x="1122" y="707"/>
                    </a:cubicBezTo>
                    <a:close/>
                  </a:path>
                </a:pathLst>
              </a:custGeom>
              <a:solidFill>
                <a:srgbClr val="1C6299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wrap="square" lIns="91440" tIns="45720" rIns="91440" bIns="45720" rtlCol="0" anchor="b">
                <a:normAutofit/>
              </a:bodyPr>
              <a:lstStyle/>
              <a:p>
                <a:pPr marL="0" marR="0" lvl="0" indent="0" algn="ctr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grpSp>
            <p:nvGrpSpPr>
              <p:cNvPr id="29" name="组合 28"/>
              <p:cNvGrpSpPr/>
              <p:nvPr/>
            </p:nvGrpSpPr>
            <p:grpSpPr>
              <a:xfrm>
                <a:off x="3775367" y="1751978"/>
                <a:ext cx="5355520" cy="3341782"/>
                <a:chOff x="3775367" y="1751978"/>
                <a:chExt cx="5355520" cy="3341782"/>
              </a:xfrm>
            </p:grpSpPr>
            <p:sp>
              <p:nvSpPr>
                <p:cNvPr id="30" name="ïślidê"/>
                <p:cNvSpPr/>
                <p:nvPr/>
              </p:nvSpPr>
              <p:spPr bwMode="auto">
                <a:xfrm rot="2783601">
                  <a:off x="4893175" y="1843948"/>
                  <a:ext cx="3119904" cy="3135893"/>
                </a:xfrm>
                <a:custGeom>
                  <a:avLst/>
                  <a:gdLst>
                    <a:gd name="T0" fmla="*/ 1122 w 1238"/>
                    <a:gd name="T1" fmla="*/ 707 h 1242"/>
                    <a:gd name="T2" fmla="*/ 907 w 1238"/>
                    <a:gd name="T3" fmla="*/ 619 h 1242"/>
                    <a:gd name="T4" fmla="*/ 706 w 1238"/>
                    <a:gd name="T5" fmla="*/ 535 h 1242"/>
                    <a:gd name="T6" fmla="*/ 622 w 1238"/>
                    <a:gd name="T7" fmla="*/ 333 h 1242"/>
                    <a:gd name="T8" fmla="*/ 536 w 1238"/>
                    <a:gd name="T9" fmla="*/ 117 h 1242"/>
                    <a:gd name="T10" fmla="*/ 117 w 1238"/>
                    <a:gd name="T11" fmla="*/ 116 h 1242"/>
                    <a:gd name="T12" fmla="*/ 116 w 1238"/>
                    <a:gd name="T13" fmla="*/ 535 h 1242"/>
                    <a:gd name="T14" fmla="*/ 331 w 1238"/>
                    <a:gd name="T15" fmla="*/ 623 h 1242"/>
                    <a:gd name="T16" fmla="*/ 532 w 1238"/>
                    <a:gd name="T17" fmla="*/ 708 h 1242"/>
                    <a:gd name="T18" fmla="*/ 615 w 1238"/>
                    <a:gd name="T19" fmla="*/ 909 h 1242"/>
                    <a:gd name="T20" fmla="*/ 701 w 1238"/>
                    <a:gd name="T21" fmla="*/ 1125 h 1242"/>
                    <a:gd name="T22" fmla="*/ 1121 w 1238"/>
                    <a:gd name="T23" fmla="*/ 1127 h 1242"/>
                    <a:gd name="T24" fmla="*/ 1122 w 1238"/>
                    <a:gd name="T25" fmla="*/ 707 h 1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238" h="1242">
                      <a:moveTo>
                        <a:pt x="1122" y="707"/>
                      </a:moveTo>
                      <a:cubicBezTo>
                        <a:pt x="1063" y="647"/>
                        <a:pt x="985" y="618"/>
                        <a:pt x="907" y="619"/>
                      </a:cubicBezTo>
                      <a:cubicBezTo>
                        <a:pt x="834" y="619"/>
                        <a:pt x="762" y="591"/>
                        <a:pt x="706" y="535"/>
                      </a:cubicBezTo>
                      <a:cubicBezTo>
                        <a:pt x="650" y="479"/>
                        <a:pt x="623" y="406"/>
                        <a:pt x="622" y="333"/>
                      </a:cubicBezTo>
                      <a:cubicBezTo>
                        <a:pt x="624" y="255"/>
                        <a:pt x="595" y="177"/>
                        <a:pt x="536" y="117"/>
                      </a:cubicBezTo>
                      <a:cubicBezTo>
                        <a:pt x="421" y="1"/>
                        <a:pt x="233" y="0"/>
                        <a:pt x="117" y="116"/>
                      </a:cubicBezTo>
                      <a:cubicBezTo>
                        <a:pt x="1" y="231"/>
                        <a:pt x="0" y="419"/>
                        <a:pt x="116" y="535"/>
                      </a:cubicBezTo>
                      <a:cubicBezTo>
                        <a:pt x="175" y="595"/>
                        <a:pt x="253" y="625"/>
                        <a:pt x="331" y="623"/>
                      </a:cubicBezTo>
                      <a:cubicBezTo>
                        <a:pt x="404" y="623"/>
                        <a:pt x="477" y="652"/>
                        <a:pt x="532" y="708"/>
                      </a:cubicBezTo>
                      <a:cubicBezTo>
                        <a:pt x="587" y="763"/>
                        <a:pt x="615" y="836"/>
                        <a:pt x="615" y="909"/>
                      </a:cubicBezTo>
                      <a:cubicBezTo>
                        <a:pt x="613" y="987"/>
                        <a:pt x="642" y="1065"/>
                        <a:pt x="701" y="1125"/>
                      </a:cubicBezTo>
                      <a:cubicBezTo>
                        <a:pt x="817" y="1241"/>
                        <a:pt x="1005" y="1242"/>
                        <a:pt x="1121" y="1127"/>
                      </a:cubicBezTo>
                      <a:cubicBezTo>
                        <a:pt x="1237" y="1011"/>
                        <a:pt x="1238" y="824"/>
                        <a:pt x="1122" y="707"/>
                      </a:cubicBezTo>
                      <a:close/>
                    </a:path>
                  </a:pathLst>
                </a:custGeom>
                <a:solidFill>
                  <a:srgbClr val="1C6299"/>
                </a:solidFill>
                <a:ln w="12700" cap="flat" cmpd="sng" algn="ctr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lIns="91440" tIns="45720" rIns="91440" bIns="45720" rtlCol="0" anchor="b">
                  <a:normAutofit/>
                </a:bodyPr>
                <a:lstStyle/>
                <a:p>
                  <a:pPr marL="0" marR="0" lvl="0" indent="0" algn="ctr" defTabSz="12185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ís1îḋe"/>
                <p:cNvSpPr/>
                <p:nvPr/>
              </p:nvSpPr>
              <p:spPr bwMode="auto">
                <a:xfrm rot="2783601">
                  <a:off x="3776738" y="1766649"/>
                  <a:ext cx="1214938" cy="1217680"/>
                </a:xfrm>
                <a:custGeom>
                  <a:avLst/>
                  <a:gdLst>
                    <a:gd name="T0" fmla="*/ 99 w 562"/>
                    <a:gd name="T1" fmla="*/ 461 h 562"/>
                    <a:gd name="T2" fmla="*/ 100 w 562"/>
                    <a:gd name="T3" fmla="*/ 99 h 562"/>
                    <a:gd name="T4" fmla="*/ 462 w 562"/>
                    <a:gd name="T5" fmla="*/ 101 h 562"/>
                    <a:gd name="T6" fmla="*/ 461 w 562"/>
                    <a:gd name="T7" fmla="*/ 462 h 562"/>
                    <a:gd name="T8" fmla="*/ 99 w 562"/>
                    <a:gd name="T9" fmla="*/ 461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2" h="562">
                      <a:moveTo>
                        <a:pt x="99" y="461"/>
                      </a:moveTo>
                      <a:cubicBezTo>
                        <a:pt x="0" y="361"/>
                        <a:pt x="0" y="199"/>
                        <a:pt x="100" y="99"/>
                      </a:cubicBezTo>
                      <a:cubicBezTo>
                        <a:pt x="200" y="0"/>
                        <a:pt x="362" y="0"/>
                        <a:pt x="462" y="101"/>
                      </a:cubicBezTo>
                      <a:cubicBezTo>
                        <a:pt x="562" y="201"/>
                        <a:pt x="561" y="363"/>
                        <a:pt x="461" y="462"/>
                      </a:cubicBezTo>
                      <a:cubicBezTo>
                        <a:pt x="361" y="562"/>
                        <a:pt x="199" y="561"/>
                        <a:pt x="99" y="46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875" cap="flat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ctr" anchorCtr="0" compatLnSpc="1">
                  <a:norm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ís1îḋe"/>
                <p:cNvSpPr/>
                <p:nvPr/>
              </p:nvSpPr>
              <p:spPr bwMode="auto">
                <a:xfrm rot="2783601">
                  <a:off x="5898091" y="1750607"/>
                  <a:ext cx="1214938" cy="1217680"/>
                </a:xfrm>
                <a:custGeom>
                  <a:avLst/>
                  <a:gdLst>
                    <a:gd name="T0" fmla="*/ 99 w 562"/>
                    <a:gd name="T1" fmla="*/ 461 h 562"/>
                    <a:gd name="T2" fmla="*/ 100 w 562"/>
                    <a:gd name="T3" fmla="*/ 99 h 562"/>
                    <a:gd name="T4" fmla="*/ 462 w 562"/>
                    <a:gd name="T5" fmla="*/ 101 h 562"/>
                    <a:gd name="T6" fmla="*/ 461 w 562"/>
                    <a:gd name="T7" fmla="*/ 462 h 562"/>
                    <a:gd name="T8" fmla="*/ 99 w 562"/>
                    <a:gd name="T9" fmla="*/ 461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2" h="562">
                      <a:moveTo>
                        <a:pt x="99" y="461"/>
                      </a:moveTo>
                      <a:cubicBezTo>
                        <a:pt x="0" y="361"/>
                        <a:pt x="0" y="199"/>
                        <a:pt x="100" y="99"/>
                      </a:cubicBezTo>
                      <a:cubicBezTo>
                        <a:pt x="200" y="0"/>
                        <a:pt x="362" y="0"/>
                        <a:pt x="462" y="101"/>
                      </a:cubicBezTo>
                      <a:cubicBezTo>
                        <a:pt x="562" y="201"/>
                        <a:pt x="561" y="363"/>
                        <a:pt x="461" y="462"/>
                      </a:cubicBezTo>
                      <a:cubicBezTo>
                        <a:pt x="361" y="562"/>
                        <a:pt x="199" y="561"/>
                        <a:pt x="99" y="46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875" cap="flat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ctr" anchorCtr="0" compatLnSpc="1">
                  <a:norm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ís1îḋe"/>
                <p:cNvSpPr/>
                <p:nvPr/>
              </p:nvSpPr>
              <p:spPr bwMode="auto">
                <a:xfrm rot="2783601">
                  <a:off x="5829100" y="3845366"/>
                  <a:ext cx="1214938" cy="1217680"/>
                </a:xfrm>
                <a:custGeom>
                  <a:avLst/>
                  <a:gdLst>
                    <a:gd name="T0" fmla="*/ 99 w 562"/>
                    <a:gd name="T1" fmla="*/ 461 h 562"/>
                    <a:gd name="T2" fmla="*/ 100 w 562"/>
                    <a:gd name="T3" fmla="*/ 99 h 562"/>
                    <a:gd name="T4" fmla="*/ 462 w 562"/>
                    <a:gd name="T5" fmla="*/ 101 h 562"/>
                    <a:gd name="T6" fmla="*/ 461 w 562"/>
                    <a:gd name="T7" fmla="*/ 462 h 562"/>
                    <a:gd name="T8" fmla="*/ 99 w 562"/>
                    <a:gd name="T9" fmla="*/ 461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2" h="562">
                      <a:moveTo>
                        <a:pt x="99" y="461"/>
                      </a:moveTo>
                      <a:cubicBezTo>
                        <a:pt x="0" y="361"/>
                        <a:pt x="0" y="199"/>
                        <a:pt x="100" y="99"/>
                      </a:cubicBezTo>
                      <a:cubicBezTo>
                        <a:pt x="200" y="0"/>
                        <a:pt x="362" y="0"/>
                        <a:pt x="462" y="101"/>
                      </a:cubicBezTo>
                      <a:cubicBezTo>
                        <a:pt x="562" y="201"/>
                        <a:pt x="561" y="363"/>
                        <a:pt x="461" y="462"/>
                      </a:cubicBezTo>
                      <a:cubicBezTo>
                        <a:pt x="361" y="562"/>
                        <a:pt x="199" y="561"/>
                        <a:pt x="99" y="46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875" cap="flat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ctr" anchorCtr="0" compatLnSpc="1">
                  <a:norm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ís1îḋe"/>
                <p:cNvSpPr/>
                <p:nvPr/>
              </p:nvSpPr>
              <p:spPr bwMode="auto">
                <a:xfrm rot="2783601">
                  <a:off x="7914578" y="3877451"/>
                  <a:ext cx="1214938" cy="1217680"/>
                </a:xfrm>
                <a:custGeom>
                  <a:avLst/>
                  <a:gdLst>
                    <a:gd name="T0" fmla="*/ 99 w 562"/>
                    <a:gd name="T1" fmla="*/ 461 h 562"/>
                    <a:gd name="T2" fmla="*/ 100 w 562"/>
                    <a:gd name="T3" fmla="*/ 99 h 562"/>
                    <a:gd name="T4" fmla="*/ 462 w 562"/>
                    <a:gd name="T5" fmla="*/ 101 h 562"/>
                    <a:gd name="T6" fmla="*/ 461 w 562"/>
                    <a:gd name="T7" fmla="*/ 462 h 562"/>
                    <a:gd name="T8" fmla="*/ 99 w 562"/>
                    <a:gd name="T9" fmla="*/ 461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2" h="562">
                      <a:moveTo>
                        <a:pt x="99" y="461"/>
                      </a:moveTo>
                      <a:cubicBezTo>
                        <a:pt x="0" y="361"/>
                        <a:pt x="0" y="199"/>
                        <a:pt x="100" y="99"/>
                      </a:cubicBezTo>
                      <a:cubicBezTo>
                        <a:pt x="200" y="0"/>
                        <a:pt x="362" y="0"/>
                        <a:pt x="462" y="101"/>
                      </a:cubicBezTo>
                      <a:cubicBezTo>
                        <a:pt x="562" y="201"/>
                        <a:pt x="561" y="363"/>
                        <a:pt x="461" y="462"/>
                      </a:cubicBezTo>
                      <a:cubicBezTo>
                        <a:pt x="361" y="562"/>
                        <a:pt x="199" y="561"/>
                        <a:pt x="99" y="46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875" cap="flat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ctr" anchorCtr="0" compatLnSpc="1">
                  <a:norm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1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0697" y="2325861"/>
              <a:ext cx="576000" cy="576000"/>
            </a:xfrm>
            <a:prstGeom prst="rect">
              <a:avLst/>
            </a:prstGeom>
          </p:spPr>
        </p:pic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5218" y="2366949"/>
              <a:ext cx="540000" cy="540000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4622" y="4481699"/>
              <a:ext cx="540000" cy="540000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5524" y="4490028"/>
              <a:ext cx="540000" cy="540000"/>
            </a:xfrm>
            <a:prstGeom prst="rect">
              <a:avLst/>
            </a:prstGeom>
          </p:spPr>
        </p:pic>
      </p:grpSp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项目背景与意义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alphaModFix amt="38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5807710" y="508000"/>
            <a:ext cx="6402070" cy="5919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58171" y="2105561"/>
            <a:ext cx="2447290" cy="2646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98052">
                      <a:schemeClr val="bg1"/>
                    </a:gs>
                    <a:gs pos="0">
                      <a:srgbClr val="1C6299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16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98052">
                    <a:schemeClr val="bg1"/>
                  </a:gs>
                  <a:gs pos="0">
                    <a:srgbClr val="1C6299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560176" y="2143126"/>
            <a:ext cx="6713702" cy="1035858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10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需求分析</a:t>
            </a:r>
            <a:endParaRPr kumimoji="0" lang="zh-CN" altLang="en-US" sz="4000" b="1" i="0" u="none" strike="noStrike" kern="1200" cap="none" spc="10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" name="文本占位符 2"/>
          <p:cNvSpPr txBox="1"/>
          <p:nvPr/>
        </p:nvSpPr>
        <p:spPr>
          <a:xfrm>
            <a:off x="5560176" y="3787775"/>
            <a:ext cx="6792912" cy="92710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 spc="1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Requirements Analysis</a:t>
            </a: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619693" y="2143125"/>
            <a:ext cx="0" cy="257175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Dot"/>
            <a:miter lim="800000"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5560176" y="3432579"/>
            <a:ext cx="720000" cy="1016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905" y="624205"/>
            <a:ext cx="6402070" cy="5919470"/>
          </a:xfrm>
          <a:prstGeom prst="rect">
            <a:avLst/>
          </a:prstGeom>
        </p:spPr>
      </p:pic>
      <p:grpSp>
        <p:nvGrpSpPr>
          <p:cNvPr id="41" name="组合 40"/>
          <p:cNvGrpSpPr/>
          <p:nvPr/>
        </p:nvGrpSpPr>
        <p:grpSpPr>
          <a:xfrm>
            <a:off x="20772061" y="1341057"/>
            <a:ext cx="5048885" cy="1486535"/>
            <a:chOff x="1591970" y="812608"/>
            <a:chExt cx="5048885" cy="1486535"/>
          </a:xfrm>
        </p:grpSpPr>
        <p:sp>
          <p:nvSpPr>
            <p:cNvPr id="42" name="TextBox 205"/>
            <p:cNvSpPr txBox="1"/>
            <p:nvPr/>
          </p:nvSpPr>
          <p:spPr>
            <a:xfrm>
              <a:off x="1591970" y="1474913"/>
              <a:ext cx="5048885" cy="82423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/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数字化转型：实现图书借阅全流程数字化，提升管理效率。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用户体验：提供便捷的检索与借阅服务，打破时间空间限制。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技术实践：探索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Spring Boot 3 + Vue 3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全栈开发模式，实践前后端分离架构。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TextBox 205"/>
            <p:cNvSpPr txBox="1"/>
            <p:nvPr/>
          </p:nvSpPr>
          <p:spPr>
            <a:xfrm>
              <a:off x="1692300" y="812608"/>
              <a:ext cx="243134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defTabSz="137541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6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研究意义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3914248" y="3605359"/>
            <a:ext cx="5165090" cy="1621790"/>
            <a:chOff x="-1139165" y="72198"/>
            <a:chExt cx="5165090" cy="1621790"/>
          </a:xfrm>
        </p:grpSpPr>
        <p:sp>
          <p:nvSpPr>
            <p:cNvPr id="45" name="TextBox 205"/>
            <p:cNvSpPr txBox="1"/>
            <p:nvPr/>
          </p:nvSpPr>
          <p:spPr>
            <a:xfrm>
              <a:off x="-790550" y="731328"/>
              <a:ext cx="4816475" cy="96266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/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传统图书馆管理依赖人工，效率低下，数据易出错。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Web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技术飞速发展，用户对交互体验和响应速度要求提高。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TextBox 205"/>
            <p:cNvSpPr txBox="1"/>
            <p:nvPr/>
          </p:nvSpPr>
          <p:spPr>
            <a:xfrm>
              <a:off x="-1139165" y="72198"/>
              <a:ext cx="3404870" cy="8870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R="0" lvl="0" indent="0" algn="ctr" defTabSz="137541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6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项目背景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7217328" y="1149490"/>
            <a:ext cx="5355520" cy="5226924"/>
            <a:chOff x="3418240" y="1100851"/>
            <a:chExt cx="5355520" cy="5226924"/>
          </a:xfrm>
        </p:grpSpPr>
        <p:grpSp>
          <p:nvGrpSpPr>
            <p:cNvPr id="26" name="组合 25"/>
            <p:cNvGrpSpPr/>
            <p:nvPr/>
          </p:nvGrpSpPr>
          <p:grpSpPr>
            <a:xfrm rot="60000">
              <a:off x="3418240" y="1100851"/>
              <a:ext cx="5355520" cy="5226924"/>
              <a:chOff x="3775367" y="815538"/>
              <a:chExt cx="5355520" cy="5226924"/>
            </a:xfrm>
          </p:grpSpPr>
          <p:sp>
            <p:nvSpPr>
              <p:cNvPr id="27" name="îṧ1îdê"/>
              <p:cNvSpPr/>
              <p:nvPr/>
            </p:nvSpPr>
            <p:spPr bwMode="auto">
              <a:xfrm rot="2783601">
                <a:off x="5910432" y="2915096"/>
                <a:ext cx="3120970" cy="3133762"/>
              </a:xfrm>
              <a:custGeom>
                <a:avLst/>
                <a:gdLst>
                  <a:gd name="T0" fmla="*/ 536 w 1238"/>
                  <a:gd name="T1" fmla="*/ 1123 h 1241"/>
                  <a:gd name="T2" fmla="*/ 622 w 1238"/>
                  <a:gd name="T3" fmla="*/ 908 h 1241"/>
                  <a:gd name="T4" fmla="*/ 706 w 1238"/>
                  <a:gd name="T5" fmla="*/ 707 h 1241"/>
                  <a:gd name="T6" fmla="*/ 907 w 1238"/>
                  <a:gd name="T7" fmla="*/ 622 h 1241"/>
                  <a:gd name="T8" fmla="*/ 1122 w 1238"/>
                  <a:gd name="T9" fmla="*/ 535 h 1241"/>
                  <a:gd name="T10" fmla="*/ 1122 w 1238"/>
                  <a:gd name="T11" fmla="*/ 115 h 1241"/>
                  <a:gd name="T12" fmla="*/ 702 w 1238"/>
                  <a:gd name="T13" fmla="*/ 116 h 1241"/>
                  <a:gd name="T14" fmla="*/ 615 w 1238"/>
                  <a:gd name="T15" fmla="*/ 332 h 1241"/>
                  <a:gd name="T16" fmla="*/ 532 w 1238"/>
                  <a:gd name="T17" fmla="*/ 534 h 1241"/>
                  <a:gd name="T18" fmla="*/ 331 w 1238"/>
                  <a:gd name="T19" fmla="*/ 618 h 1241"/>
                  <a:gd name="T20" fmla="*/ 116 w 1238"/>
                  <a:gd name="T21" fmla="*/ 705 h 1241"/>
                  <a:gd name="T22" fmla="*/ 116 w 1238"/>
                  <a:gd name="T23" fmla="*/ 1125 h 1241"/>
                  <a:gd name="T24" fmla="*/ 536 w 1238"/>
                  <a:gd name="T25" fmla="*/ 1123 h 1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8" h="1241">
                    <a:moveTo>
                      <a:pt x="536" y="1123"/>
                    </a:moveTo>
                    <a:cubicBezTo>
                      <a:pt x="595" y="1064"/>
                      <a:pt x="624" y="986"/>
                      <a:pt x="622" y="908"/>
                    </a:cubicBezTo>
                    <a:cubicBezTo>
                      <a:pt x="622" y="835"/>
                      <a:pt x="650" y="763"/>
                      <a:pt x="706" y="707"/>
                    </a:cubicBezTo>
                    <a:cubicBezTo>
                      <a:pt x="761" y="651"/>
                      <a:pt x="834" y="623"/>
                      <a:pt x="907" y="622"/>
                    </a:cubicBezTo>
                    <a:cubicBezTo>
                      <a:pt x="985" y="623"/>
                      <a:pt x="1063" y="594"/>
                      <a:pt x="1122" y="535"/>
                    </a:cubicBezTo>
                    <a:cubicBezTo>
                      <a:pt x="1238" y="419"/>
                      <a:pt x="1237" y="231"/>
                      <a:pt x="1122" y="115"/>
                    </a:cubicBezTo>
                    <a:cubicBezTo>
                      <a:pt x="1006" y="0"/>
                      <a:pt x="818" y="0"/>
                      <a:pt x="702" y="116"/>
                    </a:cubicBezTo>
                    <a:cubicBezTo>
                      <a:pt x="643" y="176"/>
                      <a:pt x="613" y="254"/>
                      <a:pt x="615" y="332"/>
                    </a:cubicBezTo>
                    <a:cubicBezTo>
                      <a:pt x="615" y="405"/>
                      <a:pt x="588" y="478"/>
                      <a:pt x="532" y="534"/>
                    </a:cubicBezTo>
                    <a:cubicBezTo>
                      <a:pt x="477" y="589"/>
                      <a:pt x="404" y="618"/>
                      <a:pt x="331" y="618"/>
                    </a:cubicBezTo>
                    <a:cubicBezTo>
                      <a:pt x="253" y="616"/>
                      <a:pt x="175" y="646"/>
                      <a:pt x="116" y="705"/>
                    </a:cubicBezTo>
                    <a:cubicBezTo>
                      <a:pt x="0" y="822"/>
                      <a:pt x="0" y="1010"/>
                      <a:pt x="116" y="1125"/>
                    </a:cubicBezTo>
                    <a:cubicBezTo>
                      <a:pt x="232" y="1241"/>
                      <a:pt x="420" y="1240"/>
                      <a:pt x="536" y="1123"/>
                    </a:cubicBezTo>
                    <a:close/>
                  </a:path>
                </a:pathLst>
              </a:custGeom>
              <a:solidFill>
                <a:srgbClr val="1C6299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wrap="square" lIns="91440" tIns="45720" rIns="91440" bIns="45720" rtlCol="0" anchor="b">
                <a:normAutofit/>
              </a:bodyPr>
              <a:lstStyle/>
              <a:p>
                <a:pPr marL="0" marR="0" lvl="0" indent="0" algn="ctr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8" name="îṧļiḓê"/>
              <p:cNvSpPr/>
              <p:nvPr/>
            </p:nvSpPr>
            <p:spPr bwMode="auto">
              <a:xfrm rot="8027341">
                <a:off x="3876753" y="807543"/>
                <a:ext cx="3119903" cy="3135893"/>
              </a:xfrm>
              <a:custGeom>
                <a:avLst/>
                <a:gdLst>
                  <a:gd name="T0" fmla="*/ 1122 w 1238"/>
                  <a:gd name="T1" fmla="*/ 707 h 1242"/>
                  <a:gd name="T2" fmla="*/ 907 w 1238"/>
                  <a:gd name="T3" fmla="*/ 619 h 1242"/>
                  <a:gd name="T4" fmla="*/ 706 w 1238"/>
                  <a:gd name="T5" fmla="*/ 535 h 1242"/>
                  <a:gd name="T6" fmla="*/ 622 w 1238"/>
                  <a:gd name="T7" fmla="*/ 333 h 1242"/>
                  <a:gd name="T8" fmla="*/ 536 w 1238"/>
                  <a:gd name="T9" fmla="*/ 117 h 1242"/>
                  <a:gd name="T10" fmla="*/ 117 w 1238"/>
                  <a:gd name="T11" fmla="*/ 116 h 1242"/>
                  <a:gd name="T12" fmla="*/ 116 w 1238"/>
                  <a:gd name="T13" fmla="*/ 535 h 1242"/>
                  <a:gd name="T14" fmla="*/ 331 w 1238"/>
                  <a:gd name="T15" fmla="*/ 623 h 1242"/>
                  <a:gd name="T16" fmla="*/ 532 w 1238"/>
                  <a:gd name="T17" fmla="*/ 708 h 1242"/>
                  <a:gd name="T18" fmla="*/ 615 w 1238"/>
                  <a:gd name="T19" fmla="*/ 909 h 1242"/>
                  <a:gd name="T20" fmla="*/ 701 w 1238"/>
                  <a:gd name="T21" fmla="*/ 1125 h 1242"/>
                  <a:gd name="T22" fmla="*/ 1121 w 1238"/>
                  <a:gd name="T23" fmla="*/ 1127 h 1242"/>
                  <a:gd name="T24" fmla="*/ 1122 w 1238"/>
                  <a:gd name="T25" fmla="*/ 707 h 1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8" h="1242">
                    <a:moveTo>
                      <a:pt x="1122" y="707"/>
                    </a:moveTo>
                    <a:cubicBezTo>
                      <a:pt x="1063" y="647"/>
                      <a:pt x="985" y="618"/>
                      <a:pt x="907" y="619"/>
                    </a:cubicBezTo>
                    <a:cubicBezTo>
                      <a:pt x="834" y="619"/>
                      <a:pt x="762" y="591"/>
                      <a:pt x="706" y="535"/>
                    </a:cubicBezTo>
                    <a:cubicBezTo>
                      <a:pt x="650" y="479"/>
                      <a:pt x="623" y="406"/>
                      <a:pt x="622" y="333"/>
                    </a:cubicBezTo>
                    <a:cubicBezTo>
                      <a:pt x="624" y="255"/>
                      <a:pt x="595" y="177"/>
                      <a:pt x="536" y="117"/>
                    </a:cubicBezTo>
                    <a:cubicBezTo>
                      <a:pt x="421" y="1"/>
                      <a:pt x="233" y="0"/>
                      <a:pt x="117" y="116"/>
                    </a:cubicBezTo>
                    <a:cubicBezTo>
                      <a:pt x="1" y="231"/>
                      <a:pt x="0" y="419"/>
                      <a:pt x="116" y="535"/>
                    </a:cubicBezTo>
                    <a:cubicBezTo>
                      <a:pt x="175" y="595"/>
                      <a:pt x="253" y="625"/>
                      <a:pt x="331" y="623"/>
                    </a:cubicBezTo>
                    <a:cubicBezTo>
                      <a:pt x="404" y="623"/>
                      <a:pt x="477" y="652"/>
                      <a:pt x="532" y="708"/>
                    </a:cubicBezTo>
                    <a:cubicBezTo>
                      <a:pt x="587" y="763"/>
                      <a:pt x="615" y="836"/>
                      <a:pt x="615" y="909"/>
                    </a:cubicBezTo>
                    <a:cubicBezTo>
                      <a:pt x="613" y="987"/>
                      <a:pt x="642" y="1065"/>
                      <a:pt x="701" y="1125"/>
                    </a:cubicBezTo>
                    <a:cubicBezTo>
                      <a:pt x="817" y="1241"/>
                      <a:pt x="1005" y="1242"/>
                      <a:pt x="1121" y="1127"/>
                    </a:cubicBezTo>
                    <a:cubicBezTo>
                      <a:pt x="1237" y="1011"/>
                      <a:pt x="1238" y="824"/>
                      <a:pt x="1122" y="707"/>
                    </a:cubicBezTo>
                    <a:close/>
                  </a:path>
                </a:pathLst>
              </a:custGeom>
              <a:solidFill>
                <a:srgbClr val="1C6299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wrap="square" lIns="91440" tIns="45720" rIns="91440" bIns="45720" rtlCol="0" anchor="b">
                <a:normAutofit/>
              </a:bodyPr>
              <a:lstStyle/>
              <a:p>
                <a:pPr marL="0" marR="0" lvl="0" indent="0" algn="ctr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grpSp>
            <p:nvGrpSpPr>
              <p:cNvPr id="29" name="组合 28"/>
              <p:cNvGrpSpPr/>
              <p:nvPr/>
            </p:nvGrpSpPr>
            <p:grpSpPr>
              <a:xfrm>
                <a:off x="3775367" y="1751978"/>
                <a:ext cx="5355520" cy="3341782"/>
                <a:chOff x="3775367" y="1751978"/>
                <a:chExt cx="5355520" cy="3341782"/>
              </a:xfrm>
            </p:grpSpPr>
            <p:sp>
              <p:nvSpPr>
                <p:cNvPr id="30" name="ïślidê"/>
                <p:cNvSpPr/>
                <p:nvPr/>
              </p:nvSpPr>
              <p:spPr bwMode="auto">
                <a:xfrm rot="2783601">
                  <a:off x="4893175" y="1843948"/>
                  <a:ext cx="3119904" cy="3135893"/>
                </a:xfrm>
                <a:custGeom>
                  <a:avLst/>
                  <a:gdLst>
                    <a:gd name="T0" fmla="*/ 1122 w 1238"/>
                    <a:gd name="T1" fmla="*/ 707 h 1242"/>
                    <a:gd name="T2" fmla="*/ 907 w 1238"/>
                    <a:gd name="T3" fmla="*/ 619 h 1242"/>
                    <a:gd name="T4" fmla="*/ 706 w 1238"/>
                    <a:gd name="T5" fmla="*/ 535 h 1242"/>
                    <a:gd name="T6" fmla="*/ 622 w 1238"/>
                    <a:gd name="T7" fmla="*/ 333 h 1242"/>
                    <a:gd name="T8" fmla="*/ 536 w 1238"/>
                    <a:gd name="T9" fmla="*/ 117 h 1242"/>
                    <a:gd name="T10" fmla="*/ 117 w 1238"/>
                    <a:gd name="T11" fmla="*/ 116 h 1242"/>
                    <a:gd name="T12" fmla="*/ 116 w 1238"/>
                    <a:gd name="T13" fmla="*/ 535 h 1242"/>
                    <a:gd name="T14" fmla="*/ 331 w 1238"/>
                    <a:gd name="T15" fmla="*/ 623 h 1242"/>
                    <a:gd name="T16" fmla="*/ 532 w 1238"/>
                    <a:gd name="T17" fmla="*/ 708 h 1242"/>
                    <a:gd name="T18" fmla="*/ 615 w 1238"/>
                    <a:gd name="T19" fmla="*/ 909 h 1242"/>
                    <a:gd name="T20" fmla="*/ 701 w 1238"/>
                    <a:gd name="T21" fmla="*/ 1125 h 1242"/>
                    <a:gd name="T22" fmla="*/ 1121 w 1238"/>
                    <a:gd name="T23" fmla="*/ 1127 h 1242"/>
                    <a:gd name="T24" fmla="*/ 1122 w 1238"/>
                    <a:gd name="T25" fmla="*/ 707 h 1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238" h="1242">
                      <a:moveTo>
                        <a:pt x="1122" y="707"/>
                      </a:moveTo>
                      <a:cubicBezTo>
                        <a:pt x="1063" y="647"/>
                        <a:pt x="985" y="618"/>
                        <a:pt x="907" y="619"/>
                      </a:cubicBezTo>
                      <a:cubicBezTo>
                        <a:pt x="834" y="619"/>
                        <a:pt x="762" y="591"/>
                        <a:pt x="706" y="535"/>
                      </a:cubicBezTo>
                      <a:cubicBezTo>
                        <a:pt x="650" y="479"/>
                        <a:pt x="623" y="406"/>
                        <a:pt x="622" y="333"/>
                      </a:cubicBezTo>
                      <a:cubicBezTo>
                        <a:pt x="624" y="255"/>
                        <a:pt x="595" y="177"/>
                        <a:pt x="536" y="117"/>
                      </a:cubicBezTo>
                      <a:cubicBezTo>
                        <a:pt x="421" y="1"/>
                        <a:pt x="233" y="0"/>
                        <a:pt x="117" y="116"/>
                      </a:cubicBezTo>
                      <a:cubicBezTo>
                        <a:pt x="1" y="231"/>
                        <a:pt x="0" y="419"/>
                        <a:pt x="116" y="535"/>
                      </a:cubicBezTo>
                      <a:cubicBezTo>
                        <a:pt x="175" y="595"/>
                        <a:pt x="253" y="625"/>
                        <a:pt x="331" y="623"/>
                      </a:cubicBezTo>
                      <a:cubicBezTo>
                        <a:pt x="404" y="623"/>
                        <a:pt x="477" y="652"/>
                        <a:pt x="532" y="708"/>
                      </a:cubicBezTo>
                      <a:cubicBezTo>
                        <a:pt x="587" y="763"/>
                        <a:pt x="615" y="836"/>
                        <a:pt x="615" y="909"/>
                      </a:cubicBezTo>
                      <a:cubicBezTo>
                        <a:pt x="613" y="987"/>
                        <a:pt x="642" y="1065"/>
                        <a:pt x="701" y="1125"/>
                      </a:cubicBezTo>
                      <a:cubicBezTo>
                        <a:pt x="817" y="1241"/>
                        <a:pt x="1005" y="1242"/>
                        <a:pt x="1121" y="1127"/>
                      </a:cubicBezTo>
                      <a:cubicBezTo>
                        <a:pt x="1237" y="1011"/>
                        <a:pt x="1238" y="824"/>
                        <a:pt x="1122" y="707"/>
                      </a:cubicBezTo>
                      <a:close/>
                    </a:path>
                  </a:pathLst>
                </a:custGeom>
                <a:solidFill>
                  <a:srgbClr val="1C6299"/>
                </a:solidFill>
                <a:ln w="12700" cap="flat" cmpd="sng" algn="ctr">
                  <a:noFill/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lIns="91440" tIns="45720" rIns="91440" bIns="45720" rtlCol="0" anchor="b">
                  <a:normAutofit/>
                </a:bodyPr>
                <a:lstStyle/>
                <a:p>
                  <a:pPr marL="0" marR="0" lvl="0" indent="0" algn="ctr" defTabSz="12185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ís1îḋe"/>
                <p:cNvSpPr/>
                <p:nvPr/>
              </p:nvSpPr>
              <p:spPr bwMode="auto">
                <a:xfrm rot="2783601">
                  <a:off x="3776738" y="1766649"/>
                  <a:ext cx="1214938" cy="1217680"/>
                </a:xfrm>
                <a:custGeom>
                  <a:avLst/>
                  <a:gdLst>
                    <a:gd name="T0" fmla="*/ 99 w 562"/>
                    <a:gd name="T1" fmla="*/ 461 h 562"/>
                    <a:gd name="T2" fmla="*/ 100 w 562"/>
                    <a:gd name="T3" fmla="*/ 99 h 562"/>
                    <a:gd name="T4" fmla="*/ 462 w 562"/>
                    <a:gd name="T5" fmla="*/ 101 h 562"/>
                    <a:gd name="T6" fmla="*/ 461 w 562"/>
                    <a:gd name="T7" fmla="*/ 462 h 562"/>
                    <a:gd name="T8" fmla="*/ 99 w 562"/>
                    <a:gd name="T9" fmla="*/ 461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2" h="562">
                      <a:moveTo>
                        <a:pt x="99" y="461"/>
                      </a:moveTo>
                      <a:cubicBezTo>
                        <a:pt x="0" y="361"/>
                        <a:pt x="0" y="199"/>
                        <a:pt x="100" y="99"/>
                      </a:cubicBezTo>
                      <a:cubicBezTo>
                        <a:pt x="200" y="0"/>
                        <a:pt x="362" y="0"/>
                        <a:pt x="462" y="101"/>
                      </a:cubicBezTo>
                      <a:cubicBezTo>
                        <a:pt x="562" y="201"/>
                        <a:pt x="561" y="363"/>
                        <a:pt x="461" y="462"/>
                      </a:cubicBezTo>
                      <a:cubicBezTo>
                        <a:pt x="361" y="562"/>
                        <a:pt x="199" y="561"/>
                        <a:pt x="99" y="46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875" cap="flat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ctr" anchorCtr="0" compatLnSpc="1">
                  <a:norm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ís1îḋe"/>
                <p:cNvSpPr/>
                <p:nvPr/>
              </p:nvSpPr>
              <p:spPr bwMode="auto">
                <a:xfrm rot="2783601">
                  <a:off x="5898091" y="1750607"/>
                  <a:ext cx="1214938" cy="1217680"/>
                </a:xfrm>
                <a:custGeom>
                  <a:avLst/>
                  <a:gdLst>
                    <a:gd name="T0" fmla="*/ 99 w 562"/>
                    <a:gd name="T1" fmla="*/ 461 h 562"/>
                    <a:gd name="T2" fmla="*/ 100 w 562"/>
                    <a:gd name="T3" fmla="*/ 99 h 562"/>
                    <a:gd name="T4" fmla="*/ 462 w 562"/>
                    <a:gd name="T5" fmla="*/ 101 h 562"/>
                    <a:gd name="T6" fmla="*/ 461 w 562"/>
                    <a:gd name="T7" fmla="*/ 462 h 562"/>
                    <a:gd name="T8" fmla="*/ 99 w 562"/>
                    <a:gd name="T9" fmla="*/ 461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2" h="562">
                      <a:moveTo>
                        <a:pt x="99" y="461"/>
                      </a:moveTo>
                      <a:cubicBezTo>
                        <a:pt x="0" y="361"/>
                        <a:pt x="0" y="199"/>
                        <a:pt x="100" y="99"/>
                      </a:cubicBezTo>
                      <a:cubicBezTo>
                        <a:pt x="200" y="0"/>
                        <a:pt x="362" y="0"/>
                        <a:pt x="462" y="101"/>
                      </a:cubicBezTo>
                      <a:cubicBezTo>
                        <a:pt x="562" y="201"/>
                        <a:pt x="561" y="363"/>
                        <a:pt x="461" y="462"/>
                      </a:cubicBezTo>
                      <a:cubicBezTo>
                        <a:pt x="361" y="562"/>
                        <a:pt x="199" y="561"/>
                        <a:pt x="99" y="46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875" cap="flat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ctr" anchorCtr="0" compatLnSpc="1">
                  <a:norm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ís1îḋe"/>
                <p:cNvSpPr/>
                <p:nvPr/>
              </p:nvSpPr>
              <p:spPr bwMode="auto">
                <a:xfrm rot="2783601">
                  <a:off x="5829100" y="3845366"/>
                  <a:ext cx="1214938" cy="1217680"/>
                </a:xfrm>
                <a:custGeom>
                  <a:avLst/>
                  <a:gdLst>
                    <a:gd name="T0" fmla="*/ 99 w 562"/>
                    <a:gd name="T1" fmla="*/ 461 h 562"/>
                    <a:gd name="T2" fmla="*/ 100 w 562"/>
                    <a:gd name="T3" fmla="*/ 99 h 562"/>
                    <a:gd name="T4" fmla="*/ 462 w 562"/>
                    <a:gd name="T5" fmla="*/ 101 h 562"/>
                    <a:gd name="T6" fmla="*/ 461 w 562"/>
                    <a:gd name="T7" fmla="*/ 462 h 562"/>
                    <a:gd name="T8" fmla="*/ 99 w 562"/>
                    <a:gd name="T9" fmla="*/ 461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2" h="562">
                      <a:moveTo>
                        <a:pt x="99" y="461"/>
                      </a:moveTo>
                      <a:cubicBezTo>
                        <a:pt x="0" y="361"/>
                        <a:pt x="0" y="199"/>
                        <a:pt x="100" y="99"/>
                      </a:cubicBezTo>
                      <a:cubicBezTo>
                        <a:pt x="200" y="0"/>
                        <a:pt x="362" y="0"/>
                        <a:pt x="462" y="101"/>
                      </a:cubicBezTo>
                      <a:cubicBezTo>
                        <a:pt x="562" y="201"/>
                        <a:pt x="561" y="363"/>
                        <a:pt x="461" y="462"/>
                      </a:cubicBezTo>
                      <a:cubicBezTo>
                        <a:pt x="361" y="562"/>
                        <a:pt x="199" y="561"/>
                        <a:pt x="99" y="46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875" cap="flat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ctr" anchorCtr="0" compatLnSpc="1">
                  <a:norm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ís1îḋe"/>
                <p:cNvSpPr/>
                <p:nvPr/>
              </p:nvSpPr>
              <p:spPr bwMode="auto">
                <a:xfrm rot="2783601">
                  <a:off x="7914578" y="3877451"/>
                  <a:ext cx="1214938" cy="1217680"/>
                </a:xfrm>
                <a:custGeom>
                  <a:avLst/>
                  <a:gdLst>
                    <a:gd name="T0" fmla="*/ 99 w 562"/>
                    <a:gd name="T1" fmla="*/ 461 h 562"/>
                    <a:gd name="T2" fmla="*/ 100 w 562"/>
                    <a:gd name="T3" fmla="*/ 99 h 562"/>
                    <a:gd name="T4" fmla="*/ 462 w 562"/>
                    <a:gd name="T5" fmla="*/ 101 h 562"/>
                    <a:gd name="T6" fmla="*/ 461 w 562"/>
                    <a:gd name="T7" fmla="*/ 462 h 562"/>
                    <a:gd name="T8" fmla="*/ 99 w 562"/>
                    <a:gd name="T9" fmla="*/ 461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62" h="562">
                      <a:moveTo>
                        <a:pt x="99" y="461"/>
                      </a:moveTo>
                      <a:cubicBezTo>
                        <a:pt x="0" y="361"/>
                        <a:pt x="0" y="199"/>
                        <a:pt x="100" y="99"/>
                      </a:cubicBezTo>
                      <a:cubicBezTo>
                        <a:pt x="200" y="0"/>
                        <a:pt x="362" y="0"/>
                        <a:pt x="462" y="101"/>
                      </a:cubicBezTo>
                      <a:cubicBezTo>
                        <a:pt x="562" y="201"/>
                        <a:pt x="561" y="363"/>
                        <a:pt x="461" y="462"/>
                      </a:cubicBezTo>
                      <a:cubicBezTo>
                        <a:pt x="361" y="562"/>
                        <a:pt x="199" y="561"/>
                        <a:pt x="99" y="46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875" cap="flat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ctr" anchorCtr="0" compatLnSpc="1">
                  <a:norm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0697" y="2325861"/>
              <a:ext cx="576000" cy="576000"/>
            </a:xfrm>
            <a:prstGeom prst="rect">
              <a:avLst/>
            </a:prstGeom>
          </p:spPr>
        </p:pic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5218" y="2366949"/>
              <a:ext cx="540000" cy="540000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6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4622" y="4481699"/>
              <a:ext cx="540000" cy="540000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7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5524" y="4490028"/>
              <a:ext cx="540000" cy="540000"/>
            </a:xfrm>
            <a:prstGeom prst="rect">
              <a:avLst/>
            </a:prstGeom>
          </p:spPr>
        </p:pic>
      </p:grpSp>
      <p:cxnSp>
        <p:nvCxnSpPr>
          <p:cNvPr id="51" name="直接连接符 50"/>
          <p:cNvCxnSpPr/>
          <p:nvPr/>
        </p:nvCxnSpPr>
        <p:spPr>
          <a:xfrm>
            <a:off x="14289405" y="73247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14594205" y="-12795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项目背景与意义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13832765" y="13178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14289405" y="655570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3918" y="14843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13756005" y="666906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4350095" y="668270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2893797" y="668270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546950" y="2108550"/>
            <a:ext cx="3098100" cy="3098100"/>
            <a:chOff x="4546950" y="2108550"/>
            <a:chExt cx="3098100" cy="3098100"/>
          </a:xfrm>
          <a:solidFill>
            <a:srgbClr val="1B6298"/>
          </a:solidFill>
        </p:grpSpPr>
        <p:grpSp>
          <p:nvGrpSpPr>
            <p:cNvPr id="5" name="组合 4"/>
            <p:cNvGrpSpPr/>
            <p:nvPr/>
          </p:nvGrpSpPr>
          <p:grpSpPr>
            <a:xfrm>
              <a:off x="4546950" y="2108550"/>
              <a:ext cx="3098100" cy="3098100"/>
              <a:chOff x="4566000" y="2072350"/>
              <a:chExt cx="3098100" cy="3098100"/>
            </a:xfrm>
            <a:grp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0" name="任意多边形: 形状 19"/>
              <p:cNvSpPr/>
              <p:nvPr/>
            </p:nvSpPr>
            <p:spPr>
              <a:xfrm>
                <a:off x="4566000" y="2072350"/>
                <a:ext cx="1530000" cy="1530000"/>
              </a:xfrm>
              <a:custGeom>
                <a:avLst/>
                <a:gdLst>
                  <a:gd name="connsiteX0" fmla="*/ 0 w 1971675"/>
                  <a:gd name="connsiteY0" fmla="*/ 0 h 1971675"/>
                  <a:gd name="connsiteX1" fmla="*/ 768125 w 1971675"/>
                  <a:gd name="connsiteY1" fmla="*/ 0 h 1971675"/>
                  <a:gd name="connsiteX2" fmla="*/ 1971675 w 1971675"/>
                  <a:gd name="connsiteY2" fmla="*/ 1203550 h 1971675"/>
                  <a:gd name="connsiteX3" fmla="*/ 1971675 w 1971675"/>
                  <a:gd name="connsiteY3" fmla="*/ 1971675 h 1971675"/>
                  <a:gd name="connsiteX4" fmla="*/ 1203550 w 1971675"/>
                  <a:gd name="connsiteY4" fmla="*/ 1971675 h 1971675"/>
                  <a:gd name="connsiteX5" fmla="*/ 0 w 1971675"/>
                  <a:gd name="connsiteY5" fmla="*/ 768125 h 1971675"/>
                  <a:gd name="connsiteX6" fmla="*/ 0 w 1971675"/>
                  <a:gd name="connsiteY6" fmla="*/ 0 h 1971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71675" h="1971675">
                    <a:moveTo>
                      <a:pt x="0" y="0"/>
                    </a:moveTo>
                    <a:lnTo>
                      <a:pt x="768125" y="0"/>
                    </a:lnTo>
                    <a:cubicBezTo>
                      <a:pt x="1432827" y="0"/>
                      <a:pt x="1971675" y="538848"/>
                      <a:pt x="1971675" y="1203550"/>
                    </a:cubicBezTo>
                    <a:lnTo>
                      <a:pt x="1971675" y="1971675"/>
                    </a:lnTo>
                    <a:lnTo>
                      <a:pt x="1203550" y="1971675"/>
                    </a:lnTo>
                    <a:cubicBezTo>
                      <a:pt x="538848" y="1971675"/>
                      <a:pt x="0" y="1432827"/>
                      <a:pt x="0" y="768125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 flipV="1">
                <a:off x="6134100" y="2072350"/>
                <a:ext cx="1530000" cy="1530000"/>
              </a:xfrm>
              <a:custGeom>
                <a:avLst/>
                <a:gdLst>
                  <a:gd name="connsiteX0" fmla="*/ 0 w 1971675"/>
                  <a:gd name="connsiteY0" fmla="*/ 0 h 1971675"/>
                  <a:gd name="connsiteX1" fmla="*/ 768125 w 1971675"/>
                  <a:gd name="connsiteY1" fmla="*/ 0 h 1971675"/>
                  <a:gd name="connsiteX2" fmla="*/ 1971675 w 1971675"/>
                  <a:gd name="connsiteY2" fmla="*/ 1203550 h 1971675"/>
                  <a:gd name="connsiteX3" fmla="*/ 1971675 w 1971675"/>
                  <a:gd name="connsiteY3" fmla="*/ 1971675 h 1971675"/>
                  <a:gd name="connsiteX4" fmla="*/ 1203550 w 1971675"/>
                  <a:gd name="connsiteY4" fmla="*/ 1971675 h 1971675"/>
                  <a:gd name="connsiteX5" fmla="*/ 0 w 1971675"/>
                  <a:gd name="connsiteY5" fmla="*/ 768125 h 1971675"/>
                  <a:gd name="connsiteX6" fmla="*/ 0 w 1971675"/>
                  <a:gd name="connsiteY6" fmla="*/ 0 h 1971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71675" h="1971675">
                    <a:moveTo>
                      <a:pt x="0" y="0"/>
                    </a:moveTo>
                    <a:lnTo>
                      <a:pt x="768125" y="0"/>
                    </a:lnTo>
                    <a:cubicBezTo>
                      <a:pt x="1432827" y="0"/>
                      <a:pt x="1971675" y="538848"/>
                      <a:pt x="1971675" y="1203550"/>
                    </a:cubicBezTo>
                    <a:lnTo>
                      <a:pt x="1971675" y="1971675"/>
                    </a:lnTo>
                    <a:lnTo>
                      <a:pt x="1203550" y="1971675"/>
                    </a:lnTo>
                    <a:cubicBezTo>
                      <a:pt x="538848" y="1971675"/>
                      <a:pt x="0" y="1432827"/>
                      <a:pt x="0" y="768125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 flipV="1">
                <a:off x="4566000" y="3640450"/>
                <a:ext cx="1530000" cy="1530000"/>
              </a:xfrm>
              <a:custGeom>
                <a:avLst/>
                <a:gdLst>
                  <a:gd name="connsiteX0" fmla="*/ 0 w 1971675"/>
                  <a:gd name="connsiteY0" fmla="*/ 0 h 1971675"/>
                  <a:gd name="connsiteX1" fmla="*/ 768125 w 1971675"/>
                  <a:gd name="connsiteY1" fmla="*/ 0 h 1971675"/>
                  <a:gd name="connsiteX2" fmla="*/ 1971675 w 1971675"/>
                  <a:gd name="connsiteY2" fmla="*/ 1203550 h 1971675"/>
                  <a:gd name="connsiteX3" fmla="*/ 1971675 w 1971675"/>
                  <a:gd name="connsiteY3" fmla="*/ 1971675 h 1971675"/>
                  <a:gd name="connsiteX4" fmla="*/ 1203550 w 1971675"/>
                  <a:gd name="connsiteY4" fmla="*/ 1971675 h 1971675"/>
                  <a:gd name="connsiteX5" fmla="*/ 0 w 1971675"/>
                  <a:gd name="connsiteY5" fmla="*/ 768125 h 1971675"/>
                  <a:gd name="connsiteX6" fmla="*/ 0 w 1971675"/>
                  <a:gd name="connsiteY6" fmla="*/ 0 h 1971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71675" h="1971675">
                    <a:moveTo>
                      <a:pt x="0" y="0"/>
                    </a:moveTo>
                    <a:lnTo>
                      <a:pt x="768125" y="0"/>
                    </a:lnTo>
                    <a:cubicBezTo>
                      <a:pt x="1432827" y="0"/>
                      <a:pt x="1971675" y="538848"/>
                      <a:pt x="1971675" y="1203550"/>
                    </a:cubicBezTo>
                    <a:lnTo>
                      <a:pt x="1971675" y="1971675"/>
                    </a:lnTo>
                    <a:lnTo>
                      <a:pt x="1203550" y="1971675"/>
                    </a:lnTo>
                    <a:cubicBezTo>
                      <a:pt x="538848" y="1971675"/>
                      <a:pt x="0" y="1432827"/>
                      <a:pt x="0" y="768125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6134100" y="3640450"/>
                <a:ext cx="1530000" cy="1530000"/>
              </a:xfrm>
              <a:custGeom>
                <a:avLst/>
                <a:gdLst>
                  <a:gd name="connsiteX0" fmla="*/ 0 w 1971675"/>
                  <a:gd name="connsiteY0" fmla="*/ 0 h 1971675"/>
                  <a:gd name="connsiteX1" fmla="*/ 768125 w 1971675"/>
                  <a:gd name="connsiteY1" fmla="*/ 0 h 1971675"/>
                  <a:gd name="connsiteX2" fmla="*/ 1971675 w 1971675"/>
                  <a:gd name="connsiteY2" fmla="*/ 1203550 h 1971675"/>
                  <a:gd name="connsiteX3" fmla="*/ 1971675 w 1971675"/>
                  <a:gd name="connsiteY3" fmla="*/ 1971675 h 1971675"/>
                  <a:gd name="connsiteX4" fmla="*/ 1203550 w 1971675"/>
                  <a:gd name="connsiteY4" fmla="*/ 1971675 h 1971675"/>
                  <a:gd name="connsiteX5" fmla="*/ 0 w 1971675"/>
                  <a:gd name="connsiteY5" fmla="*/ 768125 h 1971675"/>
                  <a:gd name="connsiteX6" fmla="*/ 0 w 1971675"/>
                  <a:gd name="connsiteY6" fmla="*/ 0 h 1971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71675" h="1971675">
                    <a:moveTo>
                      <a:pt x="0" y="0"/>
                    </a:moveTo>
                    <a:lnTo>
                      <a:pt x="768125" y="0"/>
                    </a:lnTo>
                    <a:cubicBezTo>
                      <a:pt x="1432827" y="0"/>
                      <a:pt x="1971675" y="538848"/>
                      <a:pt x="1971675" y="1203550"/>
                    </a:cubicBezTo>
                    <a:lnTo>
                      <a:pt x="1971675" y="1971675"/>
                    </a:lnTo>
                    <a:lnTo>
                      <a:pt x="1203550" y="1971675"/>
                    </a:lnTo>
                    <a:cubicBezTo>
                      <a:pt x="538848" y="1971675"/>
                      <a:pt x="0" y="1432827"/>
                      <a:pt x="0" y="768125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p:grp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9200" y="2571750"/>
              <a:ext cx="666750" cy="666750"/>
            </a:xfrm>
            <a:prstGeom prst="rect">
              <a:avLst/>
            </a:prstGeom>
            <a:grpFill/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997625" y="4085100"/>
              <a:ext cx="666750" cy="666750"/>
            </a:xfrm>
            <a:prstGeom prst="rect">
              <a:avLst/>
            </a:prstGeom>
            <a:grpFill/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7625" y="4079100"/>
              <a:ext cx="666750" cy="666750"/>
            </a:xfrm>
            <a:prstGeom prst="rect">
              <a:avLst/>
            </a:prstGeom>
            <a:grpFill/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7625" y="2617789"/>
              <a:ext cx="612000" cy="612000"/>
            </a:xfrm>
            <a:prstGeom prst="rect">
              <a:avLst/>
            </a:prstGeom>
            <a:grpFill/>
          </p:spPr>
        </p:pic>
      </p:grpSp>
      <p:sp>
        <p:nvSpPr>
          <p:cNvPr id="25" name="TextBox 205"/>
          <p:cNvSpPr txBox="1"/>
          <p:nvPr/>
        </p:nvSpPr>
        <p:spPr>
          <a:xfrm>
            <a:off x="1330711" y="1810485"/>
            <a:ext cx="2327674" cy="1687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读者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C62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图书查询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借阅申请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归还图书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个人中心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借阅历史查看等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TextBox 205"/>
          <p:cNvSpPr txBox="1"/>
          <p:nvPr/>
        </p:nvSpPr>
        <p:spPr>
          <a:xfrm>
            <a:off x="8533616" y="1810485"/>
            <a:ext cx="2327674" cy="1687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管理员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C62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图书信息管理（增删改查）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用户权限管理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借阅归还审批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数据统计大屏等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TextBox 205"/>
          <p:cNvSpPr txBox="1"/>
          <p:nvPr/>
        </p:nvSpPr>
        <p:spPr>
          <a:xfrm>
            <a:off x="1330711" y="4138035"/>
            <a:ext cx="2327674" cy="656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高性能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C62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快速响应检索请求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TextBox 205"/>
          <p:cNvSpPr txBox="1"/>
          <p:nvPr/>
        </p:nvSpPr>
        <p:spPr>
          <a:xfrm>
            <a:off x="8533616" y="4138035"/>
            <a:ext cx="2327674" cy="656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易用性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C62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界面简洁，操作直观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44" name="组合 4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45" name="椭圆 4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48" name="图片 4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9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zh-CN" altLang="en-US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需求分析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TextBox 205"/>
          <p:cNvSpPr txBox="1"/>
          <p:nvPr/>
        </p:nvSpPr>
        <p:spPr>
          <a:xfrm>
            <a:off x="4931796" y="5528050"/>
            <a:ext cx="2327674" cy="656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安全性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C62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用户认证与授权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(JWT)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alphaModFix amt="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115" y="789305"/>
            <a:ext cx="6402070" cy="5919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52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52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52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52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52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0" grpId="0"/>
      <p:bldP spid="27" grpId="0"/>
      <p:bldP spid="31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58171" y="2105561"/>
            <a:ext cx="2507615" cy="2646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98052">
                      <a:schemeClr val="bg1"/>
                    </a:gs>
                    <a:gs pos="0">
                      <a:srgbClr val="1C6299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16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98052">
                    <a:schemeClr val="bg1"/>
                  </a:gs>
                  <a:gs pos="0">
                    <a:srgbClr val="1C6299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560176" y="2143126"/>
            <a:ext cx="6713702" cy="1035858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10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系统架构设计</a:t>
            </a:r>
            <a:endParaRPr kumimoji="0" lang="zh-CN" altLang="en-US" sz="4000" b="1" i="0" u="none" strike="noStrike" kern="1200" cap="none" spc="10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" name="文本占位符 2"/>
          <p:cNvSpPr txBox="1"/>
          <p:nvPr/>
        </p:nvSpPr>
        <p:spPr>
          <a:xfrm>
            <a:off x="5560176" y="3787775"/>
            <a:ext cx="6792912" cy="92710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 spc="1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System Architecture Design</a:t>
            </a: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619693" y="2143125"/>
            <a:ext cx="0" cy="257175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Dot"/>
            <a:miter lim="800000"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5560176" y="3432579"/>
            <a:ext cx="720000" cy="1016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905" y="624205"/>
            <a:ext cx="6402070" cy="59194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76005" y="14990414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37203" y="14990414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752" y="8543440"/>
            <a:ext cx="1663415" cy="48723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1915" y="14976765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6005" y="14990414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219707" y="14990414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grpSp>
        <p:nvGrpSpPr>
          <p:cNvPr id="102" name="组合 101"/>
          <p:cNvGrpSpPr/>
          <p:nvPr>
            <p:custDataLst>
              <p:tags r:id="rId4"/>
            </p:custDataLst>
          </p:nvPr>
        </p:nvGrpSpPr>
        <p:grpSpPr>
          <a:xfrm>
            <a:off x="1616551" y="11970384"/>
            <a:ext cx="3312003" cy="2542674"/>
            <a:chOff x="4769961" y="1295399"/>
            <a:chExt cx="3312003" cy="2542674"/>
          </a:xfrm>
        </p:grpSpPr>
        <p:sp>
          <p:nvSpPr>
            <p:cNvPr id="103" name="矩形 102"/>
            <p:cNvSpPr/>
            <p:nvPr>
              <p:custDataLst>
                <p:tags r:id="rId5"/>
              </p:custDataLst>
            </p:nvPr>
          </p:nvSpPr>
          <p:spPr>
            <a:xfrm>
              <a:off x="4769963" y="1295399"/>
              <a:ext cx="3312000" cy="232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04" name="组合 103"/>
            <p:cNvGrpSpPr/>
            <p:nvPr/>
          </p:nvGrpSpPr>
          <p:grpSpPr>
            <a:xfrm>
              <a:off x="4769961" y="3516855"/>
              <a:ext cx="3312003" cy="108000"/>
              <a:chOff x="4769961" y="5930840"/>
              <a:chExt cx="3312003" cy="108000"/>
            </a:xfrm>
          </p:grpSpPr>
          <p:sp>
            <p:nvSpPr>
              <p:cNvPr id="105" name="矩形 104"/>
              <p:cNvSpPr/>
              <p:nvPr>
                <p:custDataLst>
                  <p:tags r:id="rId6"/>
                </p:custDataLst>
              </p:nvPr>
            </p:nvSpPr>
            <p:spPr>
              <a:xfrm>
                <a:off x="4769961" y="5966840"/>
                <a:ext cx="2916000" cy="72000"/>
              </a:xfrm>
              <a:prstGeom prst="rect">
                <a:avLst/>
              </a:prstGeom>
              <a:solidFill>
                <a:srgbClr val="96C4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" name="任意多边形: 形状 29"/>
              <p:cNvSpPr/>
              <p:nvPr>
                <p:custDataLst>
                  <p:tags r:id="rId7"/>
                </p:custDataLst>
              </p:nvPr>
            </p:nvSpPr>
            <p:spPr>
              <a:xfrm>
                <a:off x="7209969" y="5930840"/>
                <a:ext cx="871995" cy="108000"/>
              </a:xfrm>
              <a:custGeom>
                <a:avLst/>
                <a:gdLst>
                  <a:gd name="connsiteX0" fmla="*/ 87489 w 871995"/>
                  <a:gd name="connsiteY0" fmla="*/ 0 h 144000"/>
                  <a:gd name="connsiteX1" fmla="*/ 871995 w 871995"/>
                  <a:gd name="connsiteY1" fmla="*/ 0 h 144000"/>
                  <a:gd name="connsiteX2" fmla="*/ 871995 w 871995"/>
                  <a:gd name="connsiteY2" fmla="*/ 144000 h 144000"/>
                  <a:gd name="connsiteX3" fmla="*/ 0 w 871995"/>
                  <a:gd name="connsiteY3" fmla="*/ 144000 h 14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1995" h="144000">
                    <a:moveTo>
                      <a:pt x="87489" y="0"/>
                    </a:moveTo>
                    <a:lnTo>
                      <a:pt x="871995" y="0"/>
                    </a:lnTo>
                    <a:lnTo>
                      <a:pt x="871995" y="144000"/>
                    </a:lnTo>
                    <a:lnTo>
                      <a:pt x="0" y="144000"/>
                    </a:lnTo>
                    <a:close/>
                  </a:path>
                </a:pathLst>
              </a:custGeom>
              <a:solidFill>
                <a:srgbClr val="1B629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07" name="文本框 106"/>
            <p:cNvSpPr txBox="1"/>
            <p:nvPr/>
          </p:nvSpPr>
          <p:spPr>
            <a:xfrm>
              <a:off x="5642810" y="2923673"/>
              <a:ext cx="914400" cy="914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9" name="文本框 108"/>
            <p:cNvSpPr txBox="1"/>
            <p:nvPr>
              <p:custDataLst>
                <p:tags r:id="rId8"/>
              </p:custDataLst>
            </p:nvPr>
          </p:nvSpPr>
          <p:spPr>
            <a:xfrm>
              <a:off x="4891376" y="1429700"/>
              <a:ext cx="2021305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前端技术栈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12" name="组合 111"/>
          <p:cNvGrpSpPr/>
          <p:nvPr>
            <p:custDataLst>
              <p:tags r:id="rId9"/>
            </p:custDataLst>
          </p:nvPr>
        </p:nvGrpSpPr>
        <p:grpSpPr>
          <a:xfrm>
            <a:off x="5053171" y="11970570"/>
            <a:ext cx="3312003" cy="2322002"/>
            <a:chOff x="4769961" y="3716840"/>
            <a:chExt cx="3312003" cy="2322002"/>
          </a:xfrm>
        </p:grpSpPr>
        <p:sp>
          <p:nvSpPr>
            <p:cNvPr id="113" name="矩形 112"/>
            <p:cNvSpPr/>
            <p:nvPr>
              <p:custDataLst>
                <p:tags r:id="rId10"/>
              </p:custDataLst>
            </p:nvPr>
          </p:nvSpPr>
          <p:spPr>
            <a:xfrm>
              <a:off x="4769963" y="3716840"/>
              <a:ext cx="3312000" cy="232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14" name="组合 113"/>
            <p:cNvGrpSpPr/>
            <p:nvPr/>
          </p:nvGrpSpPr>
          <p:grpSpPr>
            <a:xfrm>
              <a:off x="4769961" y="5930840"/>
              <a:ext cx="3312003" cy="108000"/>
              <a:chOff x="4769961" y="5930840"/>
              <a:chExt cx="3312003" cy="108000"/>
            </a:xfrm>
          </p:grpSpPr>
          <p:sp>
            <p:nvSpPr>
              <p:cNvPr id="115" name="矩形 114"/>
              <p:cNvSpPr/>
              <p:nvPr>
                <p:custDataLst>
                  <p:tags r:id="rId11"/>
                </p:custDataLst>
              </p:nvPr>
            </p:nvSpPr>
            <p:spPr>
              <a:xfrm>
                <a:off x="4769961" y="5966840"/>
                <a:ext cx="2916000" cy="72000"/>
              </a:xfrm>
              <a:prstGeom prst="rect">
                <a:avLst/>
              </a:prstGeom>
              <a:solidFill>
                <a:srgbClr val="96C4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" name="任意多边形: 形状 24"/>
              <p:cNvSpPr/>
              <p:nvPr>
                <p:custDataLst>
                  <p:tags r:id="rId12"/>
                </p:custDataLst>
              </p:nvPr>
            </p:nvSpPr>
            <p:spPr>
              <a:xfrm>
                <a:off x="7209969" y="5930840"/>
                <a:ext cx="871995" cy="108000"/>
              </a:xfrm>
              <a:custGeom>
                <a:avLst/>
                <a:gdLst>
                  <a:gd name="connsiteX0" fmla="*/ 87489 w 871995"/>
                  <a:gd name="connsiteY0" fmla="*/ 0 h 144000"/>
                  <a:gd name="connsiteX1" fmla="*/ 871995 w 871995"/>
                  <a:gd name="connsiteY1" fmla="*/ 0 h 144000"/>
                  <a:gd name="connsiteX2" fmla="*/ 871995 w 871995"/>
                  <a:gd name="connsiteY2" fmla="*/ 144000 h 144000"/>
                  <a:gd name="connsiteX3" fmla="*/ 0 w 871995"/>
                  <a:gd name="connsiteY3" fmla="*/ 144000 h 14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1995" h="144000">
                    <a:moveTo>
                      <a:pt x="87489" y="0"/>
                    </a:moveTo>
                    <a:lnTo>
                      <a:pt x="871995" y="0"/>
                    </a:lnTo>
                    <a:lnTo>
                      <a:pt x="871995" y="144000"/>
                    </a:lnTo>
                    <a:lnTo>
                      <a:pt x="0" y="144000"/>
                    </a:lnTo>
                    <a:close/>
                  </a:path>
                </a:pathLst>
              </a:custGeom>
              <a:solidFill>
                <a:srgbClr val="1B629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17" name="组合 116"/>
            <p:cNvGrpSpPr/>
            <p:nvPr/>
          </p:nvGrpSpPr>
          <p:grpSpPr>
            <a:xfrm>
              <a:off x="4890105" y="3883837"/>
              <a:ext cx="3191857" cy="2155005"/>
              <a:chOff x="4890105" y="1429700"/>
              <a:chExt cx="3191857" cy="2155005"/>
            </a:xfrm>
          </p:grpSpPr>
          <p:sp>
            <p:nvSpPr>
              <p:cNvPr id="118" name="文本框 117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91376" y="1429700"/>
                <a:ext cx="2021305" cy="706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zh-CN" altLang="en-US" sz="2000" b="1" dirty="0">
                    <a:solidFill>
                      <a:srgbClr val="1C62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部署与运维</a:t>
                </a:r>
                <a:endParaRPr lang="zh-CN" altLang="en-US" sz="2000" b="1" dirty="0">
                  <a:solidFill>
                    <a:srgbClr val="1C62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/>
                <a:endParaRPr lang="zh-CN" altLang="en-US" sz="2000" b="1" dirty="0">
                  <a:solidFill>
                    <a:srgbClr val="1C62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文本框 118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4891375" y="1889652"/>
                <a:ext cx="3190587" cy="28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lvl="0" indent="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defRPr/>
                </a:pPr>
                <a:endPara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0" name="文本框 119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4890105" y="2171195"/>
                <a:ext cx="3190587" cy="1413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marR="0" lvl="0" indent="-17145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defRPr/>
                </a:pPr>
                <a:r>
                  <a:rPr kumimoji="0" lang="zh-CN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接口测试：</a:t>
                </a: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Postman/Swagger</a:t>
                </a:r>
                <a:endPara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171450" marR="0" lvl="0" indent="-17145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defRPr/>
                </a:pPr>
                <a:r>
                  <a:rPr sz="105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版本控制：Git</a:t>
                </a:r>
                <a:endParaRPr sz="10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 marL="171450" marR="0" lvl="0" indent="-17145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105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构建工具：</a:t>
                </a:r>
                <a:r>
                  <a:rPr lang="en-US" altLang="zh-CN" sz="105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Maven 3</a:t>
                </a:r>
                <a:endPara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171450" marR="0" lvl="0" indent="-17145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defRPr/>
                </a:pPr>
                <a:endPara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171450" marR="0" lvl="0" indent="-17145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defRPr/>
                </a:pPr>
                <a:endPara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171450" marR="0" lvl="0" indent="-17145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defRPr/>
                </a:pPr>
                <a:endPara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130" name="组合 129"/>
          <p:cNvGrpSpPr/>
          <p:nvPr>
            <p:custDataLst>
              <p:tags r:id="rId16"/>
            </p:custDataLst>
          </p:nvPr>
        </p:nvGrpSpPr>
        <p:grpSpPr>
          <a:xfrm>
            <a:off x="5076982" y="9510394"/>
            <a:ext cx="3312003" cy="2329456"/>
            <a:chOff x="8184672" y="1295399"/>
            <a:chExt cx="3312003" cy="2329456"/>
          </a:xfrm>
        </p:grpSpPr>
        <p:sp>
          <p:nvSpPr>
            <p:cNvPr id="131" name="矩形 130"/>
            <p:cNvSpPr/>
            <p:nvPr>
              <p:custDataLst>
                <p:tags r:id="rId17"/>
              </p:custDataLst>
            </p:nvPr>
          </p:nvSpPr>
          <p:spPr>
            <a:xfrm>
              <a:off x="8184675" y="1295399"/>
              <a:ext cx="3312000" cy="232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32" name="组合 131"/>
            <p:cNvGrpSpPr/>
            <p:nvPr/>
          </p:nvGrpSpPr>
          <p:grpSpPr>
            <a:xfrm>
              <a:off x="8184672" y="3516855"/>
              <a:ext cx="3312003" cy="108000"/>
              <a:chOff x="4769961" y="5930840"/>
              <a:chExt cx="3312003" cy="108000"/>
            </a:xfrm>
          </p:grpSpPr>
          <p:sp>
            <p:nvSpPr>
              <p:cNvPr id="133" name="矩形 132"/>
              <p:cNvSpPr/>
              <p:nvPr>
                <p:custDataLst>
                  <p:tags r:id="rId18"/>
                </p:custDataLst>
              </p:nvPr>
            </p:nvSpPr>
            <p:spPr>
              <a:xfrm>
                <a:off x="4769961" y="5966840"/>
                <a:ext cx="2916000" cy="72000"/>
              </a:xfrm>
              <a:prstGeom prst="rect">
                <a:avLst/>
              </a:prstGeom>
              <a:solidFill>
                <a:srgbClr val="96C4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" name="任意多边形: 形状 35"/>
              <p:cNvSpPr/>
              <p:nvPr>
                <p:custDataLst>
                  <p:tags r:id="rId19"/>
                </p:custDataLst>
              </p:nvPr>
            </p:nvSpPr>
            <p:spPr>
              <a:xfrm>
                <a:off x="7209969" y="5930840"/>
                <a:ext cx="871995" cy="108000"/>
              </a:xfrm>
              <a:custGeom>
                <a:avLst/>
                <a:gdLst>
                  <a:gd name="connsiteX0" fmla="*/ 87489 w 871995"/>
                  <a:gd name="connsiteY0" fmla="*/ 0 h 144000"/>
                  <a:gd name="connsiteX1" fmla="*/ 871995 w 871995"/>
                  <a:gd name="connsiteY1" fmla="*/ 0 h 144000"/>
                  <a:gd name="connsiteX2" fmla="*/ 871995 w 871995"/>
                  <a:gd name="connsiteY2" fmla="*/ 144000 h 144000"/>
                  <a:gd name="connsiteX3" fmla="*/ 0 w 871995"/>
                  <a:gd name="connsiteY3" fmla="*/ 144000 h 14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1995" h="144000">
                    <a:moveTo>
                      <a:pt x="87489" y="0"/>
                    </a:moveTo>
                    <a:lnTo>
                      <a:pt x="871995" y="0"/>
                    </a:lnTo>
                    <a:lnTo>
                      <a:pt x="871995" y="144000"/>
                    </a:lnTo>
                    <a:lnTo>
                      <a:pt x="0" y="144000"/>
                    </a:lnTo>
                    <a:close/>
                  </a:path>
                </a:pathLst>
              </a:custGeom>
              <a:solidFill>
                <a:srgbClr val="1B629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36" name="文本框 135"/>
            <p:cNvSpPr txBox="1"/>
            <p:nvPr>
              <p:custDataLst>
                <p:tags r:id="rId20"/>
              </p:custDataLst>
            </p:nvPr>
          </p:nvSpPr>
          <p:spPr>
            <a:xfrm>
              <a:off x="8280925" y="1429700"/>
              <a:ext cx="2021305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000" b="1" dirty="0">
                  <a:solidFill>
                    <a:srgbClr val="1C62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后端技术栈</a:t>
              </a:r>
              <a:endParaRPr lang="zh-CN" altLang="en-US" sz="2000" b="1" dirty="0">
                <a:solidFill>
                  <a:srgbClr val="1C62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/>
              <a:endParaRPr lang="zh-CN" altLang="en-US" sz="2000" b="1" dirty="0">
                <a:solidFill>
                  <a:srgbClr val="1C62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5" name="文本框 144"/>
          <p:cNvSpPr txBox="1"/>
          <p:nvPr>
            <p:custDataLst>
              <p:tags r:id="rId21"/>
            </p:custDataLst>
          </p:nvPr>
        </p:nvSpPr>
        <p:spPr>
          <a:xfrm>
            <a:off x="1737249" y="12868267"/>
            <a:ext cx="3190587" cy="1413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核心框架：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Vue 3+TypeScript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构建工具：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Vite 7.2.2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sz="10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状态管理：Pinia 3.0.4</a:t>
            </a:r>
            <a:endParaRPr sz="10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sz="10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路由管理：Vue Router 4</a:t>
            </a:r>
            <a:endParaRPr sz="10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6" name="文本框 145"/>
          <p:cNvSpPr txBox="1"/>
          <p:nvPr>
            <p:custDataLst>
              <p:tags r:id="rId22"/>
            </p:custDataLst>
          </p:nvPr>
        </p:nvSpPr>
        <p:spPr>
          <a:xfrm>
            <a:off x="5172599" y="10408277"/>
            <a:ext cx="3190587" cy="1413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核心框架：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Spring Boot 3.5.7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ORM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框架：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MyBatis-Plus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安全框架：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Spring Security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数据库：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MySQL/MariaDB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工具库：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Lombok, Hutool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0" name="Picture 2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45995" y="9689465"/>
            <a:ext cx="2054225" cy="1964055"/>
          </a:xfrm>
          <a:prstGeom prst="rect">
            <a:avLst/>
          </a:prstGeom>
        </p:spPr>
      </p:pic>
      <p:sp>
        <p:nvSpPr>
          <p:cNvPr id="23" name="标题 1"/>
          <p:cNvSpPr txBox="1"/>
          <p:nvPr/>
        </p:nvSpPr>
        <p:spPr>
          <a:xfrm>
            <a:off x="432551" y="8653781"/>
            <a:ext cx="6713702" cy="1035858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0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技术架构</a:t>
            </a:r>
            <a:endParaRPr kumimoji="0" lang="zh-CN" altLang="en-US" sz="3200" b="1" i="0" u="none" strike="noStrike" kern="1200" cap="none" spc="10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bldLvl="0" animBg="1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272905" y="669290"/>
            <a:ext cx="6402070" cy="5919470"/>
          </a:xfrm>
          <a:prstGeom prst="rect">
            <a:avLst/>
          </a:prstGeom>
        </p:spPr>
      </p:pic>
      <p:grpSp>
        <p:nvGrpSpPr>
          <p:cNvPr id="102" name="组合 101"/>
          <p:cNvGrpSpPr/>
          <p:nvPr>
            <p:custDataLst>
              <p:tags r:id="rId4"/>
            </p:custDataLst>
          </p:nvPr>
        </p:nvGrpSpPr>
        <p:grpSpPr>
          <a:xfrm>
            <a:off x="1661636" y="3690619"/>
            <a:ext cx="3312003" cy="2542674"/>
            <a:chOff x="4769961" y="1295399"/>
            <a:chExt cx="3312003" cy="2542674"/>
          </a:xfrm>
        </p:grpSpPr>
        <p:sp>
          <p:nvSpPr>
            <p:cNvPr id="103" name="矩形 102"/>
            <p:cNvSpPr/>
            <p:nvPr>
              <p:custDataLst>
                <p:tags r:id="rId5"/>
              </p:custDataLst>
            </p:nvPr>
          </p:nvSpPr>
          <p:spPr>
            <a:xfrm>
              <a:off x="4769963" y="1295399"/>
              <a:ext cx="3312000" cy="232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04" name="组合 103"/>
            <p:cNvGrpSpPr/>
            <p:nvPr/>
          </p:nvGrpSpPr>
          <p:grpSpPr>
            <a:xfrm>
              <a:off x="4769961" y="3516855"/>
              <a:ext cx="3312003" cy="108000"/>
              <a:chOff x="4769961" y="5930840"/>
              <a:chExt cx="3312003" cy="108000"/>
            </a:xfrm>
          </p:grpSpPr>
          <p:sp>
            <p:nvSpPr>
              <p:cNvPr id="105" name="矩形 104"/>
              <p:cNvSpPr/>
              <p:nvPr>
                <p:custDataLst>
                  <p:tags r:id="rId6"/>
                </p:custDataLst>
              </p:nvPr>
            </p:nvSpPr>
            <p:spPr>
              <a:xfrm>
                <a:off x="4769961" y="5966840"/>
                <a:ext cx="2916000" cy="72000"/>
              </a:xfrm>
              <a:prstGeom prst="rect">
                <a:avLst/>
              </a:prstGeom>
              <a:solidFill>
                <a:srgbClr val="96C4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" name="任意多边形: 形状 29"/>
              <p:cNvSpPr/>
              <p:nvPr>
                <p:custDataLst>
                  <p:tags r:id="rId7"/>
                </p:custDataLst>
              </p:nvPr>
            </p:nvSpPr>
            <p:spPr>
              <a:xfrm>
                <a:off x="7209969" y="5930840"/>
                <a:ext cx="871995" cy="108000"/>
              </a:xfrm>
              <a:custGeom>
                <a:avLst/>
                <a:gdLst>
                  <a:gd name="connsiteX0" fmla="*/ 87489 w 871995"/>
                  <a:gd name="connsiteY0" fmla="*/ 0 h 144000"/>
                  <a:gd name="connsiteX1" fmla="*/ 871995 w 871995"/>
                  <a:gd name="connsiteY1" fmla="*/ 0 h 144000"/>
                  <a:gd name="connsiteX2" fmla="*/ 871995 w 871995"/>
                  <a:gd name="connsiteY2" fmla="*/ 144000 h 144000"/>
                  <a:gd name="connsiteX3" fmla="*/ 0 w 871995"/>
                  <a:gd name="connsiteY3" fmla="*/ 144000 h 14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1995" h="144000">
                    <a:moveTo>
                      <a:pt x="87489" y="0"/>
                    </a:moveTo>
                    <a:lnTo>
                      <a:pt x="871995" y="0"/>
                    </a:lnTo>
                    <a:lnTo>
                      <a:pt x="871995" y="144000"/>
                    </a:lnTo>
                    <a:lnTo>
                      <a:pt x="0" y="144000"/>
                    </a:lnTo>
                    <a:close/>
                  </a:path>
                </a:pathLst>
              </a:custGeom>
              <a:solidFill>
                <a:srgbClr val="1B629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07" name="文本框 106"/>
            <p:cNvSpPr txBox="1"/>
            <p:nvPr/>
          </p:nvSpPr>
          <p:spPr>
            <a:xfrm>
              <a:off x="5642810" y="2923673"/>
              <a:ext cx="914400" cy="914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9" name="文本框 108"/>
            <p:cNvSpPr txBox="1"/>
            <p:nvPr>
              <p:custDataLst>
                <p:tags r:id="rId8"/>
              </p:custDataLst>
            </p:nvPr>
          </p:nvSpPr>
          <p:spPr>
            <a:xfrm>
              <a:off x="4891376" y="1429700"/>
              <a:ext cx="2021305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前端技术栈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12" name="组合 111"/>
          <p:cNvGrpSpPr/>
          <p:nvPr>
            <p:custDataLst>
              <p:tags r:id="rId9"/>
            </p:custDataLst>
          </p:nvPr>
        </p:nvGrpSpPr>
        <p:grpSpPr>
          <a:xfrm>
            <a:off x="5098256" y="3690805"/>
            <a:ext cx="3312003" cy="2322002"/>
            <a:chOff x="4769961" y="3716840"/>
            <a:chExt cx="3312003" cy="2322002"/>
          </a:xfrm>
        </p:grpSpPr>
        <p:sp>
          <p:nvSpPr>
            <p:cNvPr id="113" name="矩形 112"/>
            <p:cNvSpPr/>
            <p:nvPr>
              <p:custDataLst>
                <p:tags r:id="rId10"/>
              </p:custDataLst>
            </p:nvPr>
          </p:nvSpPr>
          <p:spPr>
            <a:xfrm>
              <a:off x="4769963" y="3716840"/>
              <a:ext cx="3312000" cy="232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14" name="组合 113"/>
            <p:cNvGrpSpPr/>
            <p:nvPr/>
          </p:nvGrpSpPr>
          <p:grpSpPr>
            <a:xfrm>
              <a:off x="4769961" y="5930840"/>
              <a:ext cx="3312003" cy="108000"/>
              <a:chOff x="4769961" y="5930840"/>
              <a:chExt cx="3312003" cy="108000"/>
            </a:xfrm>
          </p:grpSpPr>
          <p:sp>
            <p:nvSpPr>
              <p:cNvPr id="115" name="矩形 114"/>
              <p:cNvSpPr/>
              <p:nvPr>
                <p:custDataLst>
                  <p:tags r:id="rId11"/>
                </p:custDataLst>
              </p:nvPr>
            </p:nvSpPr>
            <p:spPr>
              <a:xfrm>
                <a:off x="4769961" y="5966840"/>
                <a:ext cx="2916000" cy="72000"/>
              </a:xfrm>
              <a:prstGeom prst="rect">
                <a:avLst/>
              </a:prstGeom>
              <a:solidFill>
                <a:srgbClr val="96C4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" name="任意多边形: 形状 24"/>
              <p:cNvSpPr/>
              <p:nvPr>
                <p:custDataLst>
                  <p:tags r:id="rId12"/>
                </p:custDataLst>
              </p:nvPr>
            </p:nvSpPr>
            <p:spPr>
              <a:xfrm>
                <a:off x="7209969" y="5930840"/>
                <a:ext cx="871995" cy="108000"/>
              </a:xfrm>
              <a:custGeom>
                <a:avLst/>
                <a:gdLst>
                  <a:gd name="connsiteX0" fmla="*/ 87489 w 871995"/>
                  <a:gd name="connsiteY0" fmla="*/ 0 h 144000"/>
                  <a:gd name="connsiteX1" fmla="*/ 871995 w 871995"/>
                  <a:gd name="connsiteY1" fmla="*/ 0 h 144000"/>
                  <a:gd name="connsiteX2" fmla="*/ 871995 w 871995"/>
                  <a:gd name="connsiteY2" fmla="*/ 144000 h 144000"/>
                  <a:gd name="connsiteX3" fmla="*/ 0 w 871995"/>
                  <a:gd name="connsiteY3" fmla="*/ 144000 h 14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1995" h="144000">
                    <a:moveTo>
                      <a:pt x="87489" y="0"/>
                    </a:moveTo>
                    <a:lnTo>
                      <a:pt x="871995" y="0"/>
                    </a:lnTo>
                    <a:lnTo>
                      <a:pt x="871995" y="144000"/>
                    </a:lnTo>
                    <a:lnTo>
                      <a:pt x="0" y="144000"/>
                    </a:lnTo>
                    <a:close/>
                  </a:path>
                </a:pathLst>
              </a:custGeom>
              <a:solidFill>
                <a:srgbClr val="1B629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17" name="组合 116"/>
            <p:cNvGrpSpPr/>
            <p:nvPr/>
          </p:nvGrpSpPr>
          <p:grpSpPr>
            <a:xfrm>
              <a:off x="4890105" y="3883837"/>
              <a:ext cx="3191857" cy="2155005"/>
              <a:chOff x="4890105" y="1429700"/>
              <a:chExt cx="3191857" cy="2155005"/>
            </a:xfrm>
          </p:grpSpPr>
          <p:sp>
            <p:nvSpPr>
              <p:cNvPr id="118" name="文本框 117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91376" y="1429700"/>
                <a:ext cx="2021305" cy="706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zh-CN" altLang="en-US" sz="2000" b="1" dirty="0">
                    <a:solidFill>
                      <a:srgbClr val="1C62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部署与运维</a:t>
                </a:r>
                <a:endParaRPr lang="zh-CN" altLang="en-US" sz="2000" b="1" dirty="0">
                  <a:solidFill>
                    <a:srgbClr val="1C62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/>
                <a:endParaRPr lang="zh-CN" altLang="en-US" sz="2000" b="1" dirty="0">
                  <a:solidFill>
                    <a:srgbClr val="1C62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文本框 118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4891375" y="1889652"/>
                <a:ext cx="3190587" cy="28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lvl="0" indent="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defRPr/>
                </a:pPr>
                <a:endPara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0" name="文本框 119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4890105" y="2171195"/>
                <a:ext cx="3190587" cy="1413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marR="0" lvl="0" indent="-17145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defRPr/>
                </a:pPr>
                <a:r>
                  <a:rPr kumimoji="0" lang="zh-CN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接口测试：</a:t>
                </a: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Apifox</a:t>
                </a:r>
                <a:endPara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171450" marR="0" lvl="0" indent="-17145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defRPr/>
                </a:pPr>
                <a:r>
                  <a:rPr sz="105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版本控制：Git</a:t>
                </a:r>
                <a:endParaRPr sz="10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 marL="171450" marR="0" lvl="0" indent="-17145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105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构建工具：</a:t>
                </a:r>
                <a:r>
                  <a:rPr lang="en-US" altLang="zh-CN" sz="105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Maven 3</a:t>
                </a:r>
                <a:endPara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171450" marR="0" lvl="0" indent="-17145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defRPr/>
                </a:pPr>
                <a:endPara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171450" marR="0" lvl="0" indent="-17145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defRPr/>
                </a:pPr>
                <a:endPara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171450" marR="0" lvl="0" indent="-17145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defRPr/>
                </a:pPr>
                <a:endPara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130" name="组合 129"/>
          <p:cNvGrpSpPr/>
          <p:nvPr>
            <p:custDataLst>
              <p:tags r:id="rId16"/>
            </p:custDataLst>
          </p:nvPr>
        </p:nvGrpSpPr>
        <p:grpSpPr>
          <a:xfrm>
            <a:off x="5122067" y="1230629"/>
            <a:ext cx="3312003" cy="2329456"/>
            <a:chOff x="8184672" y="1295399"/>
            <a:chExt cx="3312003" cy="2329456"/>
          </a:xfrm>
        </p:grpSpPr>
        <p:sp>
          <p:nvSpPr>
            <p:cNvPr id="131" name="矩形 130"/>
            <p:cNvSpPr/>
            <p:nvPr>
              <p:custDataLst>
                <p:tags r:id="rId17"/>
              </p:custDataLst>
            </p:nvPr>
          </p:nvSpPr>
          <p:spPr>
            <a:xfrm>
              <a:off x="8184675" y="1295399"/>
              <a:ext cx="3312000" cy="232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32" name="组合 131"/>
            <p:cNvGrpSpPr/>
            <p:nvPr/>
          </p:nvGrpSpPr>
          <p:grpSpPr>
            <a:xfrm>
              <a:off x="8184672" y="3516855"/>
              <a:ext cx="3312003" cy="108000"/>
              <a:chOff x="4769961" y="5930840"/>
              <a:chExt cx="3312003" cy="108000"/>
            </a:xfrm>
          </p:grpSpPr>
          <p:sp>
            <p:nvSpPr>
              <p:cNvPr id="133" name="矩形 132"/>
              <p:cNvSpPr/>
              <p:nvPr>
                <p:custDataLst>
                  <p:tags r:id="rId18"/>
                </p:custDataLst>
              </p:nvPr>
            </p:nvSpPr>
            <p:spPr>
              <a:xfrm>
                <a:off x="4769961" y="5966840"/>
                <a:ext cx="2916000" cy="72000"/>
              </a:xfrm>
              <a:prstGeom prst="rect">
                <a:avLst/>
              </a:prstGeom>
              <a:solidFill>
                <a:srgbClr val="96C4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" name="任意多边形: 形状 35"/>
              <p:cNvSpPr/>
              <p:nvPr>
                <p:custDataLst>
                  <p:tags r:id="rId19"/>
                </p:custDataLst>
              </p:nvPr>
            </p:nvSpPr>
            <p:spPr>
              <a:xfrm>
                <a:off x="7209969" y="5930840"/>
                <a:ext cx="871995" cy="108000"/>
              </a:xfrm>
              <a:custGeom>
                <a:avLst/>
                <a:gdLst>
                  <a:gd name="connsiteX0" fmla="*/ 87489 w 871995"/>
                  <a:gd name="connsiteY0" fmla="*/ 0 h 144000"/>
                  <a:gd name="connsiteX1" fmla="*/ 871995 w 871995"/>
                  <a:gd name="connsiteY1" fmla="*/ 0 h 144000"/>
                  <a:gd name="connsiteX2" fmla="*/ 871995 w 871995"/>
                  <a:gd name="connsiteY2" fmla="*/ 144000 h 144000"/>
                  <a:gd name="connsiteX3" fmla="*/ 0 w 871995"/>
                  <a:gd name="connsiteY3" fmla="*/ 144000 h 14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1995" h="144000">
                    <a:moveTo>
                      <a:pt x="87489" y="0"/>
                    </a:moveTo>
                    <a:lnTo>
                      <a:pt x="871995" y="0"/>
                    </a:lnTo>
                    <a:lnTo>
                      <a:pt x="871995" y="144000"/>
                    </a:lnTo>
                    <a:lnTo>
                      <a:pt x="0" y="144000"/>
                    </a:lnTo>
                    <a:close/>
                  </a:path>
                </a:pathLst>
              </a:custGeom>
              <a:solidFill>
                <a:srgbClr val="1B629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36" name="文本框 135"/>
            <p:cNvSpPr txBox="1"/>
            <p:nvPr>
              <p:custDataLst>
                <p:tags r:id="rId20"/>
              </p:custDataLst>
            </p:nvPr>
          </p:nvSpPr>
          <p:spPr>
            <a:xfrm>
              <a:off x="8280925" y="1429700"/>
              <a:ext cx="2021305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000" b="1" dirty="0">
                  <a:solidFill>
                    <a:srgbClr val="1C62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后端技术栈</a:t>
              </a:r>
              <a:endParaRPr lang="zh-CN" altLang="en-US" sz="2000" b="1" dirty="0">
                <a:solidFill>
                  <a:srgbClr val="1C62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/>
              <a:endParaRPr lang="zh-CN" altLang="en-US" sz="2000" b="1" dirty="0">
                <a:solidFill>
                  <a:srgbClr val="1C62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5" name="文本框 144"/>
          <p:cNvSpPr txBox="1"/>
          <p:nvPr>
            <p:custDataLst>
              <p:tags r:id="rId21"/>
            </p:custDataLst>
          </p:nvPr>
        </p:nvSpPr>
        <p:spPr>
          <a:xfrm>
            <a:off x="1782334" y="4588502"/>
            <a:ext cx="3190587" cy="1413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核心框架：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Vue 3+TypeScript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构建工具：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Vite 7.2.2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sz="10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状态管理：Pinia 3.0.4</a:t>
            </a:r>
            <a:endParaRPr sz="10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sz="10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路由管理：Vue Router 4</a:t>
            </a:r>
            <a:endParaRPr sz="10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6" name="文本框 145"/>
          <p:cNvSpPr txBox="1"/>
          <p:nvPr>
            <p:custDataLst>
              <p:tags r:id="rId22"/>
            </p:custDataLst>
          </p:nvPr>
        </p:nvSpPr>
        <p:spPr>
          <a:xfrm>
            <a:off x="5217684" y="2128512"/>
            <a:ext cx="3190587" cy="1413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核心框架：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Spring Boot 3.5.7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ORM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框架：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MyBatis-Plus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安全框架：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Spring Security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数据库：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MySQL/MariaDB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工具库：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Lombok, Hutool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121856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0" name="Picture 2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91080" y="1409700"/>
            <a:ext cx="2054225" cy="1964055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>
          <a:xfrm>
            <a:off x="477636" y="374016"/>
            <a:ext cx="6713702" cy="1035858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0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技术架构</a:t>
            </a:r>
            <a:endParaRPr kumimoji="0" lang="zh-CN" altLang="en-US" sz="3200" b="1" i="0" u="none" strike="noStrike" kern="1200" cap="none" spc="10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94090" y="-908716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655288" y="-908716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431171" y="-5513804"/>
            <a:ext cx="2507615" cy="2646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98052">
                      <a:schemeClr val="bg1"/>
                    </a:gs>
                    <a:gs pos="0">
                      <a:srgbClr val="1C6299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16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98052">
                    <a:schemeClr val="bg1"/>
                  </a:gs>
                  <a:gs pos="0">
                    <a:srgbClr val="1C6299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标题 1"/>
          <p:cNvSpPr txBox="1"/>
          <p:nvPr/>
        </p:nvSpPr>
        <p:spPr>
          <a:xfrm>
            <a:off x="5433176" y="-5476239"/>
            <a:ext cx="6713702" cy="1035858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10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系统架构设计</a:t>
            </a:r>
            <a:endParaRPr kumimoji="0" lang="zh-CN" altLang="en-US" sz="4000" b="1" i="0" u="none" strike="noStrike" kern="1200" cap="none" spc="10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0" name="文本占位符 2"/>
          <p:cNvSpPr txBox="1"/>
          <p:nvPr/>
        </p:nvSpPr>
        <p:spPr>
          <a:xfrm>
            <a:off x="5433176" y="-3831590"/>
            <a:ext cx="6792912" cy="92710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 spc="1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System Architecture Design</a:t>
            </a: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4492693" y="-5476240"/>
            <a:ext cx="0" cy="257175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Dot"/>
            <a:miter lim="800000"/>
          </a:ln>
          <a:effectLst/>
        </p:spPr>
      </p:cxnSp>
      <p:sp>
        <p:nvSpPr>
          <p:cNvPr id="42" name="矩形 41"/>
          <p:cNvSpPr/>
          <p:nvPr/>
        </p:nvSpPr>
        <p:spPr>
          <a:xfrm>
            <a:off x="5433176" y="-4186786"/>
            <a:ext cx="720000" cy="1016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任意多边形: 形状 16"/>
          <p:cNvSpPr/>
          <p:nvPr/>
        </p:nvSpPr>
        <p:spPr>
          <a:xfrm flipH="1">
            <a:off x="0" y="-7492365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-7355690"/>
            <a:ext cx="1663415" cy="487234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594090" y="-908716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137792" y="-908716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587578" y="7995186"/>
            <a:ext cx="10456557" cy="3125414"/>
            <a:chOff x="587578" y="1903497"/>
            <a:chExt cx="10456557" cy="3125414"/>
          </a:xfrm>
        </p:grpSpPr>
        <p:grpSp>
          <p:nvGrpSpPr>
            <p:cNvPr id="49" name="组合 48"/>
            <p:cNvGrpSpPr/>
            <p:nvPr/>
          </p:nvGrpSpPr>
          <p:grpSpPr>
            <a:xfrm>
              <a:off x="587578" y="1903497"/>
              <a:ext cx="10456557" cy="3125414"/>
              <a:chOff x="587578" y="1903497"/>
              <a:chExt cx="10456557" cy="312541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0" name="isļïḋê"/>
              <p:cNvSpPr/>
              <p:nvPr/>
            </p:nvSpPr>
            <p:spPr>
              <a:xfrm>
                <a:off x="587578" y="3643822"/>
                <a:ext cx="2303727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0203" y="120000"/>
                    </a:moveTo>
                    <a:cubicBezTo>
                      <a:pt x="46191" y="120000"/>
                      <a:pt x="46191" y="120000"/>
                      <a:pt x="46191" y="120000"/>
                    </a:cubicBezTo>
                    <a:cubicBezTo>
                      <a:pt x="40570" y="120000"/>
                      <a:pt x="34949" y="114640"/>
                      <a:pt x="33727" y="108089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0997" y="5359"/>
                      <a:pt x="5376" y="0"/>
                      <a:pt x="0" y="0"/>
                    </a:cubicBezTo>
                    <a:cubicBezTo>
                      <a:pt x="19796" y="0"/>
                      <a:pt x="19796" y="0"/>
                      <a:pt x="19796" y="0"/>
                    </a:cubicBezTo>
                    <a:cubicBezTo>
                      <a:pt x="73808" y="0"/>
                      <a:pt x="73808" y="0"/>
                      <a:pt x="73808" y="0"/>
                    </a:cubicBezTo>
                    <a:cubicBezTo>
                      <a:pt x="79429" y="0"/>
                      <a:pt x="85050" y="5359"/>
                      <a:pt x="86272" y="11910"/>
                    </a:cubicBezTo>
                    <a:cubicBezTo>
                      <a:pt x="107535" y="108089"/>
                      <a:pt x="107535" y="108089"/>
                      <a:pt x="107535" y="108089"/>
                    </a:cubicBezTo>
                    <a:cubicBezTo>
                      <a:pt x="109002" y="114640"/>
                      <a:pt x="114623" y="120000"/>
                      <a:pt x="120000" y="120000"/>
                    </a:cubicBezTo>
                    <a:lnTo>
                      <a:pt x="100203" y="1200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1" name="iṩliḑê"/>
              <p:cNvSpPr/>
              <p:nvPr/>
            </p:nvSpPr>
            <p:spPr>
              <a:xfrm>
                <a:off x="7635024" y="3643822"/>
                <a:ext cx="2303727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0203" y="120000"/>
                    </a:moveTo>
                    <a:cubicBezTo>
                      <a:pt x="46191" y="120000"/>
                      <a:pt x="46191" y="120000"/>
                      <a:pt x="46191" y="120000"/>
                    </a:cubicBezTo>
                    <a:cubicBezTo>
                      <a:pt x="40570" y="120000"/>
                      <a:pt x="34949" y="114640"/>
                      <a:pt x="33482" y="108089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0997" y="5359"/>
                      <a:pt x="5376" y="0"/>
                      <a:pt x="0" y="0"/>
                    </a:cubicBezTo>
                    <a:cubicBezTo>
                      <a:pt x="19796" y="0"/>
                      <a:pt x="19796" y="0"/>
                      <a:pt x="19796" y="0"/>
                    </a:cubicBezTo>
                    <a:cubicBezTo>
                      <a:pt x="73808" y="0"/>
                      <a:pt x="73808" y="0"/>
                      <a:pt x="73808" y="0"/>
                    </a:cubicBezTo>
                    <a:cubicBezTo>
                      <a:pt x="79429" y="0"/>
                      <a:pt x="84806" y="5359"/>
                      <a:pt x="86272" y="11910"/>
                    </a:cubicBezTo>
                    <a:cubicBezTo>
                      <a:pt x="107535" y="108089"/>
                      <a:pt x="107535" y="108089"/>
                      <a:pt x="107535" y="108089"/>
                    </a:cubicBezTo>
                    <a:cubicBezTo>
                      <a:pt x="109002" y="114640"/>
                      <a:pt x="114623" y="120000"/>
                      <a:pt x="120000" y="120000"/>
                    </a:cubicBezTo>
                    <a:lnTo>
                      <a:pt x="100203" y="1200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2" name="ï$ľîḋe"/>
              <p:cNvSpPr/>
              <p:nvPr/>
            </p:nvSpPr>
            <p:spPr>
              <a:xfrm>
                <a:off x="5866426" y="3643822"/>
                <a:ext cx="2303727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0203" y="120000"/>
                    </a:moveTo>
                    <a:cubicBezTo>
                      <a:pt x="45947" y="120000"/>
                      <a:pt x="45947" y="120000"/>
                      <a:pt x="45947" y="120000"/>
                    </a:cubicBezTo>
                    <a:cubicBezTo>
                      <a:pt x="40570" y="120000"/>
                      <a:pt x="34949" y="114640"/>
                      <a:pt x="33482" y="108089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0997" y="5359"/>
                      <a:pt x="5376" y="0"/>
                      <a:pt x="0" y="0"/>
                    </a:cubicBezTo>
                    <a:cubicBezTo>
                      <a:pt x="19551" y="0"/>
                      <a:pt x="19551" y="0"/>
                      <a:pt x="19551" y="0"/>
                    </a:cubicBezTo>
                    <a:cubicBezTo>
                      <a:pt x="73808" y="0"/>
                      <a:pt x="73808" y="0"/>
                      <a:pt x="73808" y="0"/>
                    </a:cubicBezTo>
                    <a:cubicBezTo>
                      <a:pt x="79185" y="0"/>
                      <a:pt x="84806" y="5359"/>
                      <a:pt x="86272" y="11910"/>
                    </a:cubicBezTo>
                    <a:cubicBezTo>
                      <a:pt x="107535" y="108089"/>
                      <a:pt x="107535" y="108089"/>
                      <a:pt x="107535" y="108089"/>
                    </a:cubicBezTo>
                    <a:cubicBezTo>
                      <a:pt x="108757" y="114640"/>
                      <a:pt x="114378" y="120000"/>
                      <a:pt x="120000" y="120000"/>
                    </a:cubicBezTo>
                    <a:lnTo>
                      <a:pt x="100203" y="1200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3" name="îṧļidé"/>
              <p:cNvSpPr/>
              <p:nvPr/>
            </p:nvSpPr>
            <p:spPr>
              <a:xfrm>
                <a:off x="4095152" y="3643822"/>
                <a:ext cx="2301050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0448" y="120000"/>
                    </a:moveTo>
                    <a:cubicBezTo>
                      <a:pt x="46191" y="120000"/>
                      <a:pt x="46191" y="120000"/>
                      <a:pt x="46191" y="120000"/>
                    </a:cubicBezTo>
                    <a:cubicBezTo>
                      <a:pt x="40814" y="120000"/>
                      <a:pt x="35193" y="114640"/>
                      <a:pt x="33727" y="108089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0997" y="5359"/>
                      <a:pt x="5621" y="0"/>
                      <a:pt x="0" y="0"/>
                    </a:cubicBezTo>
                    <a:cubicBezTo>
                      <a:pt x="19796" y="0"/>
                      <a:pt x="19796" y="0"/>
                      <a:pt x="19796" y="0"/>
                    </a:cubicBezTo>
                    <a:cubicBezTo>
                      <a:pt x="74052" y="0"/>
                      <a:pt x="74052" y="0"/>
                      <a:pt x="74052" y="0"/>
                    </a:cubicBezTo>
                    <a:cubicBezTo>
                      <a:pt x="79429" y="0"/>
                      <a:pt x="85050" y="5359"/>
                      <a:pt x="86517" y="11910"/>
                    </a:cubicBezTo>
                    <a:cubicBezTo>
                      <a:pt x="107535" y="108089"/>
                      <a:pt x="107535" y="108089"/>
                      <a:pt x="107535" y="108089"/>
                    </a:cubicBezTo>
                    <a:cubicBezTo>
                      <a:pt x="109002" y="114640"/>
                      <a:pt x="114623" y="120000"/>
                      <a:pt x="120000" y="120000"/>
                    </a:cubicBezTo>
                    <a:lnTo>
                      <a:pt x="100448" y="1200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4" name="ïšḷíḑé"/>
              <p:cNvSpPr/>
              <p:nvPr/>
            </p:nvSpPr>
            <p:spPr>
              <a:xfrm>
                <a:off x="2326555" y="3643822"/>
                <a:ext cx="2303727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0203" y="120000"/>
                    </a:moveTo>
                    <a:cubicBezTo>
                      <a:pt x="46191" y="120000"/>
                      <a:pt x="46191" y="120000"/>
                      <a:pt x="46191" y="120000"/>
                    </a:cubicBezTo>
                    <a:cubicBezTo>
                      <a:pt x="40570" y="120000"/>
                      <a:pt x="34949" y="114640"/>
                      <a:pt x="33727" y="108089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0997" y="5359"/>
                      <a:pt x="5376" y="0"/>
                      <a:pt x="0" y="0"/>
                    </a:cubicBezTo>
                    <a:cubicBezTo>
                      <a:pt x="19796" y="0"/>
                      <a:pt x="19796" y="0"/>
                      <a:pt x="19796" y="0"/>
                    </a:cubicBezTo>
                    <a:cubicBezTo>
                      <a:pt x="73808" y="0"/>
                      <a:pt x="73808" y="0"/>
                      <a:pt x="73808" y="0"/>
                    </a:cubicBezTo>
                    <a:cubicBezTo>
                      <a:pt x="79429" y="0"/>
                      <a:pt x="85050" y="5359"/>
                      <a:pt x="86272" y="11910"/>
                    </a:cubicBezTo>
                    <a:cubicBezTo>
                      <a:pt x="107535" y="108089"/>
                      <a:pt x="107535" y="108089"/>
                      <a:pt x="107535" y="108089"/>
                    </a:cubicBezTo>
                    <a:cubicBezTo>
                      <a:pt x="109002" y="114640"/>
                      <a:pt x="114623" y="120000"/>
                      <a:pt x="120000" y="120000"/>
                    </a:cubicBezTo>
                    <a:lnTo>
                      <a:pt x="100203" y="1200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5" name="íşlïḍé"/>
              <p:cNvSpPr/>
              <p:nvPr/>
            </p:nvSpPr>
            <p:spPr>
              <a:xfrm>
                <a:off x="1440916" y="3643822"/>
                <a:ext cx="2301050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9796" y="120000"/>
                    </a:moveTo>
                    <a:cubicBezTo>
                      <a:pt x="74052" y="120000"/>
                      <a:pt x="74052" y="120000"/>
                      <a:pt x="74052" y="120000"/>
                    </a:cubicBezTo>
                    <a:cubicBezTo>
                      <a:pt x="79429" y="120000"/>
                      <a:pt x="85050" y="114640"/>
                      <a:pt x="86517" y="108089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9002" y="5359"/>
                      <a:pt x="114623" y="0"/>
                      <a:pt x="120000" y="0"/>
                    </a:cubicBezTo>
                    <a:cubicBezTo>
                      <a:pt x="100448" y="0"/>
                      <a:pt x="100448" y="0"/>
                      <a:pt x="100448" y="0"/>
                    </a:cubicBezTo>
                    <a:cubicBezTo>
                      <a:pt x="46191" y="0"/>
                      <a:pt x="46191" y="0"/>
                      <a:pt x="46191" y="0"/>
                    </a:cubicBezTo>
                    <a:cubicBezTo>
                      <a:pt x="40814" y="0"/>
                      <a:pt x="35193" y="5359"/>
                      <a:pt x="33727" y="11910"/>
                    </a:cubicBezTo>
                    <a:cubicBezTo>
                      <a:pt x="12464" y="108089"/>
                      <a:pt x="12464" y="108089"/>
                      <a:pt x="12464" y="108089"/>
                    </a:cubicBezTo>
                    <a:cubicBezTo>
                      <a:pt x="10997" y="114640"/>
                      <a:pt x="5621" y="120000"/>
                      <a:pt x="0" y="120000"/>
                    </a:cubicBezTo>
                    <a:lnTo>
                      <a:pt x="19796" y="120000"/>
                    </a:lnTo>
                    <a:close/>
                  </a:path>
                </a:pathLst>
              </a:custGeom>
              <a:solidFill>
                <a:srgbClr val="1C6299"/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6" name="iSḷíďe"/>
              <p:cNvSpPr/>
              <p:nvPr/>
            </p:nvSpPr>
            <p:spPr>
              <a:xfrm>
                <a:off x="3212189" y="3643822"/>
                <a:ext cx="2303727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9551" y="120000"/>
                    </a:moveTo>
                    <a:cubicBezTo>
                      <a:pt x="73808" y="120000"/>
                      <a:pt x="73808" y="120000"/>
                      <a:pt x="73808" y="120000"/>
                    </a:cubicBezTo>
                    <a:cubicBezTo>
                      <a:pt x="79185" y="120000"/>
                      <a:pt x="84806" y="114640"/>
                      <a:pt x="86272" y="108089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8757" y="5359"/>
                      <a:pt x="114378" y="0"/>
                      <a:pt x="120000" y="0"/>
                    </a:cubicBezTo>
                    <a:cubicBezTo>
                      <a:pt x="100203" y="0"/>
                      <a:pt x="100203" y="0"/>
                      <a:pt x="100203" y="0"/>
                    </a:cubicBezTo>
                    <a:cubicBezTo>
                      <a:pt x="45947" y="0"/>
                      <a:pt x="45947" y="0"/>
                      <a:pt x="45947" y="0"/>
                    </a:cubicBezTo>
                    <a:cubicBezTo>
                      <a:pt x="40570" y="0"/>
                      <a:pt x="34949" y="5359"/>
                      <a:pt x="33482" y="11910"/>
                    </a:cubicBezTo>
                    <a:cubicBezTo>
                      <a:pt x="12464" y="108089"/>
                      <a:pt x="12464" y="108089"/>
                      <a:pt x="12464" y="108089"/>
                    </a:cubicBezTo>
                    <a:cubicBezTo>
                      <a:pt x="10997" y="114640"/>
                      <a:pt x="5376" y="120000"/>
                      <a:pt x="0" y="120000"/>
                    </a:cubicBezTo>
                    <a:lnTo>
                      <a:pt x="19551" y="120000"/>
                    </a:lnTo>
                    <a:close/>
                  </a:path>
                </a:pathLst>
              </a:custGeom>
              <a:solidFill>
                <a:srgbClr val="1C6299"/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7" name="išḷïḋe"/>
              <p:cNvSpPr/>
              <p:nvPr/>
            </p:nvSpPr>
            <p:spPr>
              <a:xfrm>
                <a:off x="4980788" y="3643822"/>
                <a:ext cx="2303727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9796" y="120000"/>
                    </a:moveTo>
                    <a:cubicBezTo>
                      <a:pt x="73808" y="120000"/>
                      <a:pt x="73808" y="120000"/>
                      <a:pt x="73808" y="120000"/>
                    </a:cubicBezTo>
                    <a:cubicBezTo>
                      <a:pt x="79429" y="120000"/>
                      <a:pt x="84806" y="114640"/>
                      <a:pt x="86272" y="108089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9002" y="5359"/>
                      <a:pt x="114623" y="0"/>
                      <a:pt x="120000" y="0"/>
                    </a:cubicBezTo>
                    <a:cubicBezTo>
                      <a:pt x="100203" y="0"/>
                      <a:pt x="100203" y="0"/>
                      <a:pt x="100203" y="0"/>
                    </a:cubicBezTo>
                    <a:cubicBezTo>
                      <a:pt x="46191" y="0"/>
                      <a:pt x="46191" y="0"/>
                      <a:pt x="46191" y="0"/>
                    </a:cubicBezTo>
                    <a:cubicBezTo>
                      <a:pt x="40570" y="0"/>
                      <a:pt x="34949" y="5359"/>
                      <a:pt x="33482" y="11910"/>
                    </a:cubicBezTo>
                    <a:cubicBezTo>
                      <a:pt x="12464" y="108089"/>
                      <a:pt x="12464" y="108089"/>
                      <a:pt x="12464" y="108089"/>
                    </a:cubicBezTo>
                    <a:cubicBezTo>
                      <a:pt x="10997" y="114640"/>
                      <a:pt x="5376" y="120000"/>
                      <a:pt x="0" y="120000"/>
                    </a:cubicBezTo>
                    <a:lnTo>
                      <a:pt x="19796" y="120000"/>
                    </a:lnTo>
                    <a:close/>
                  </a:path>
                </a:pathLst>
              </a:custGeom>
              <a:solidFill>
                <a:srgbClr val="1C6299"/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8" name="ï$ļîḓè"/>
              <p:cNvSpPr/>
              <p:nvPr/>
            </p:nvSpPr>
            <p:spPr>
              <a:xfrm>
                <a:off x="6749385" y="3643822"/>
                <a:ext cx="2301050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9796" y="120000"/>
                    </a:moveTo>
                    <a:cubicBezTo>
                      <a:pt x="74052" y="120000"/>
                      <a:pt x="74052" y="120000"/>
                      <a:pt x="74052" y="120000"/>
                    </a:cubicBezTo>
                    <a:cubicBezTo>
                      <a:pt x="79429" y="120000"/>
                      <a:pt x="85050" y="114640"/>
                      <a:pt x="86517" y="108089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9002" y="5359"/>
                      <a:pt x="114623" y="0"/>
                      <a:pt x="120000" y="0"/>
                    </a:cubicBezTo>
                    <a:cubicBezTo>
                      <a:pt x="100448" y="0"/>
                      <a:pt x="100448" y="0"/>
                      <a:pt x="100448" y="0"/>
                    </a:cubicBezTo>
                    <a:cubicBezTo>
                      <a:pt x="46191" y="0"/>
                      <a:pt x="46191" y="0"/>
                      <a:pt x="46191" y="0"/>
                    </a:cubicBezTo>
                    <a:cubicBezTo>
                      <a:pt x="40814" y="0"/>
                      <a:pt x="35193" y="5359"/>
                      <a:pt x="33727" y="11910"/>
                    </a:cubicBezTo>
                    <a:cubicBezTo>
                      <a:pt x="12464" y="108089"/>
                      <a:pt x="12464" y="108089"/>
                      <a:pt x="12464" y="108089"/>
                    </a:cubicBezTo>
                    <a:cubicBezTo>
                      <a:pt x="10997" y="114640"/>
                      <a:pt x="5621" y="120000"/>
                      <a:pt x="0" y="120000"/>
                    </a:cubicBezTo>
                    <a:lnTo>
                      <a:pt x="19796" y="120000"/>
                    </a:lnTo>
                    <a:close/>
                  </a:path>
                </a:pathLst>
              </a:custGeom>
              <a:solidFill>
                <a:srgbClr val="1C6299"/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9" name="ïşḷîḑè"/>
              <p:cNvSpPr/>
              <p:nvPr/>
            </p:nvSpPr>
            <p:spPr>
              <a:xfrm>
                <a:off x="8676193" y="1903497"/>
                <a:ext cx="2367942" cy="3125414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0" y="120000"/>
                    </a:moveTo>
                    <a:cubicBezTo>
                      <a:pt x="17821" y="120000"/>
                      <a:pt x="17821" y="120000"/>
                      <a:pt x="17821" y="120000"/>
                    </a:cubicBezTo>
                    <a:cubicBezTo>
                      <a:pt x="66772" y="120000"/>
                      <a:pt x="66772" y="120000"/>
                      <a:pt x="66772" y="120000"/>
                    </a:cubicBezTo>
                    <a:cubicBezTo>
                      <a:pt x="71762" y="120000"/>
                      <a:pt x="76990" y="116243"/>
                      <a:pt x="78178" y="111823"/>
                    </a:cubicBezTo>
                    <a:cubicBezTo>
                      <a:pt x="95524" y="51712"/>
                      <a:pt x="95524" y="51712"/>
                      <a:pt x="95524" y="51712"/>
                    </a:cubicBezTo>
                    <a:cubicBezTo>
                      <a:pt x="113584" y="51712"/>
                      <a:pt x="113584" y="51712"/>
                      <a:pt x="113584" y="51712"/>
                    </a:cubicBezTo>
                    <a:cubicBezTo>
                      <a:pt x="118336" y="51712"/>
                      <a:pt x="120000" y="48618"/>
                      <a:pt x="117148" y="44861"/>
                    </a:cubicBezTo>
                    <a:cubicBezTo>
                      <a:pt x="85306" y="4419"/>
                      <a:pt x="85306" y="4419"/>
                      <a:pt x="85306" y="4419"/>
                    </a:cubicBezTo>
                    <a:cubicBezTo>
                      <a:pt x="82455" y="883"/>
                      <a:pt x="76752" y="0"/>
                      <a:pt x="72950" y="2872"/>
                    </a:cubicBezTo>
                    <a:cubicBezTo>
                      <a:pt x="13544" y="46629"/>
                      <a:pt x="13544" y="46629"/>
                      <a:pt x="13544" y="46629"/>
                    </a:cubicBezTo>
                    <a:cubicBezTo>
                      <a:pt x="9742" y="49281"/>
                      <a:pt x="10455" y="51712"/>
                      <a:pt x="15445" y="51712"/>
                    </a:cubicBezTo>
                    <a:cubicBezTo>
                      <a:pt x="28752" y="51712"/>
                      <a:pt x="28752" y="51712"/>
                      <a:pt x="28752" y="51712"/>
                    </a:cubicBezTo>
                    <a:cubicBezTo>
                      <a:pt x="11405" y="111823"/>
                      <a:pt x="11405" y="111823"/>
                      <a:pt x="11405" y="111823"/>
                    </a:cubicBezTo>
                    <a:cubicBezTo>
                      <a:pt x="11405" y="111823"/>
                      <a:pt x="11405" y="111823"/>
                      <a:pt x="11405" y="111823"/>
                    </a:cubicBezTo>
                    <a:cubicBezTo>
                      <a:pt x="9980" y="116243"/>
                      <a:pt x="4990" y="120000"/>
                      <a:pt x="0" y="120000"/>
                    </a:cubicBezTo>
                    <a:close/>
                  </a:path>
                </a:pathLst>
              </a:custGeom>
              <a:solidFill>
                <a:srgbClr val="1C6299"/>
              </a:solidFill>
              <a:ln w="952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</p:grpSp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0923" y="4113137"/>
              <a:ext cx="504000" cy="504000"/>
            </a:xfrm>
            <a:prstGeom prst="rect">
              <a:avLst/>
            </a:prstGeom>
          </p:spPr>
        </p:pic>
        <p:pic>
          <p:nvPicPr>
            <p:cNvPr id="61" name="图片 60"/>
            <p:cNvPicPr>
              <a:picLocks noChangeAspect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0697" y="4113137"/>
              <a:ext cx="504000" cy="504000"/>
            </a:xfrm>
            <a:prstGeom prst="rect">
              <a:avLst/>
            </a:prstGeom>
          </p:spPr>
        </p:pic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0471" y="4113137"/>
              <a:ext cx="504000" cy="504000"/>
            </a:xfrm>
            <a:prstGeom prst="rect">
              <a:avLst/>
            </a:prstGeom>
          </p:spPr>
        </p:pic>
        <p:pic>
          <p:nvPicPr>
            <p:cNvPr id="63" name="图片 62"/>
            <p:cNvPicPr>
              <a:picLocks noChangeAspect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0245" y="4113137"/>
              <a:ext cx="504000" cy="504000"/>
            </a:xfrm>
            <a:prstGeom prst="rect">
              <a:avLst/>
            </a:prstGeom>
          </p:spPr>
        </p:pic>
      </p:grpSp>
      <p:grpSp>
        <p:nvGrpSpPr>
          <p:cNvPr id="70" name="组合 69"/>
          <p:cNvGrpSpPr/>
          <p:nvPr/>
        </p:nvGrpSpPr>
        <p:grpSpPr>
          <a:xfrm>
            <a:off x="3056405" y="12362667"/>
            <a:ext cx="2431345" cy="1098999"/>
            <a:chOff x="1539900" y="1622233"/>
            <a:chExt cx="2431345" cy="1098999"/>
          </a:xfrm>
        </p:grpSpPr>
        <p:sp>
          <p:nvSpPr>
            <p:cNvPr id="71" name="TextBox 205"/>
            <p:cNvSpPr txBox="1"/>
            <p:nvPr/>
          </p:nvSpPr>
          <p:spPr>
            <a:xfrm>
              <a:off x="1704916" y="1897032"/>
              <a:ext cx="2101312" cy="82420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MyBatis-Plus Mapper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接口，操作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MySQL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TextBox 205"/>
            <p:cNvSpPr txBox="1"/>
            <p:nvPr/>
          </p:nvSpPr>
          <p:spPr>
            <a:xfrm>
              <a:off x="1539900" y="1622233"/>
              <a:ext cx="243134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持久层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(Mapper)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6561301" y="12362667"/>
            <a:ext cx="2431345" cy="1098999"/>
            <a:chOff x="1539900" y="1622233"/>
            <a:chExt cx="2431345" cy="1098999"/>
          </a:xfrm>
        </p:grpSpPr>
        <p:sp>
          <p:nvSpPr>
            <p:cNvPr id="74" name="TextBox 205"/>
            <p:cNvSpPr txBox="1"/>
            <p:nvPr/>
          </p:nvSpPr>
          <p:spPr>
            <a:xfrm>
              <a:off x="1704916" y="1897032"/>
              <a:ext cx="2101312" cy="82420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RESTful API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，统一响应格式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(Result)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TextBox 205"/>
            <p:cNvSpPr txBox="1"/>
            <p:nvPr/>
          </p:nvSpPr>
          <p:spPr>
            <a:xfrm>
              <a:off x="1539900" y="1622233"/>
              <a:ext cx="243134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接口层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(Controller)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586183" y="-3406255"/>
            <a:ext cx="2431345" cy="1098999"/>
            <a:chOff x="1539900" y="1622233"/>
            <a:chExt cx="2431345" cy="1098999"/>
          </a:xfrm>
        </p:grpSpPr>
        <p:sp>
          <p:nvSpPr>
            <p:cNvPr id="77" name="TextBox 205"/>
            <p:cNvSpPr txBox="1"/>
            <p:nvPr/>
          </p:nvSpPr>
          <p:spPr>
            <a:xfrm>
              <a:off x="1704916" y="1897032"/>
              <a:ext cx="2101312" cy="82420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设计了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User, Book, Borrow, Review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等核心表。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TextBox 205"/>
            <p:cNvSpPr txBox="1"/>
            <p:nvPr/>
          </p:nvSpPr>
          <p:spPr>
            <a:xfrm>
              <a:off x="1539900" y="1622233"/>
              <a:ext cx="243134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数据库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5180529" y="-3406255"/>
            <a:ext cx="2431345" cy="1098999"/>
            <a:chOff x="1539900" y="1622233"/>
            <a:chExt cx="2431345" cy="1098999"/>
          </a:xfrm>
        </p:grpSpPr>
        <p:sp>
          <p:nvSpPr>
            <p:cNvPr id="80" name="TextBox 205"/>
            <p:cNvSpPr txBox="1"/>
            <p:nvPr/>
          </p:nvSpPr>
          <p:spPr>
            <a:xfrm>
              <a:off x="1704916" y="1897032"/>
              <a:ext cx="2101312" cy="82420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处理借阅逻辑、库存校验、权限判断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TextBox 205"/>
            <p:cNvSpPr txBox="1"/>
            <p:nvPr/>
          </p:nvSpPr>
          <p:spPr>
            <a:xfrm>
              <a:off x="1539900" y="1622233"/>
              <a:ext cx="243134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业务层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(Service)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8786887" y="-4777791"/>
            <a:ext cx="2644072" cy="1098999"/>
            <a:chOff x="1433536" y="1622233"/>
            <a:chExt cx="2644072" cy="1098999"/>
          </a:xfrm>
        </p:grpSpPr>
        <p:sp>
          <p:nvSpPr>
            <p:cNvPr id="83" name="TextBox 205"/>
            <p:cNvSpPr txBox="1"/>
            <p:nvPr/>
          </p:nvSpPr>
          <p:spPr>
            <a:xfrm>
              <a:off x="1433536" y="1897032"/>
              <a:ext cx="2644072" cy="82420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Vue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前端页面，负责交互与展示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TextBox 205"/>
            <p:cNvSpPr txBox="1"/>
            <p:nvPr/>
          </p:nvSpPr>
          <p:spPr>
            <a:xfrm>
              <a:off x="1539900" y="1622233"/>
              <a:ext cx="243134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表现层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5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150"/>
                            </p:stCondLst>
                            <p:childTnLst>
                              <p:par>
                                <p:cTn id="6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8" grpId="0"/>
      <p:bldP spid="39" grpId="0"/>
      <p:bldP spid="40" grpId="0"/>
      <p:bldP spid="4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1586183" y="2362085"/>
            <a:ext cx="2431345" cy="1098999"/>
            <a:chOff x="1539900" y="1622233"/>
            <a:chExt cx="2431345" cy="1098999"/>
          </a:xfrm>
        </p:grpSpPr>
        <p:sp>
          <p:nvSpPr>
            <p:cNvPr id="20" name="TextBox 205"/>
            <p:cNvSpPr txBox="1"/>
            <p:nvPr/>
          </p:nvSpPr>
          <p:spPr>
            <a:xfrm>
              <a:off x="1704916" y="1897032"/>
              <a:ext cx="2101312" cy="82420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设计了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User, Book, Borrow, Review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等核心表。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TextBox 205"/>
            <p:cNvSpPr txBox="1"/>
            <p:nvPr/>
          </p:nvSpPr>
          <p:spPr>
            <a:xfrm>
              <a:off x="1539900" y="1622233"/>
              <a:ext cx="243134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数据库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180529" y="2362085"/>
            <a:ext cx="2431345" cy="1098999"/>
            <a:chOff x="1539900" y="1622233"/>
            <a:chExt cx="2431345" cy="1098999"/>
          </a:xfrm>
        </p:grpSpPr>
        <p:sp>
          <p:nvSpPr>
            <p:cNvPr id="23" name="TextBox 205"/>
            <p:cNvSpPr txBox="1"/>
            <p:nvPr/>
          </p:nvSpPr>
          <p:spPr>
            <a:xfrm>
              <a:off x="1704916" y="1897032"/>
              <a:ext cx="2101312" cy="82420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处理借阅逻辑、库存校验、权限判断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TextBox 205"/>
            <p:cNvSpPr txBox="1"/>
            <p:nvPr/>
          </p:nvSpPr>
          <p:spPr>
            <a:xfrm>
              <a:off x="1539900" y="1622233"/>
              <a:ext cx="243134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业务层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(Service)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891305" y="5177642"/>
            <a:ext cx="2431345" cy="1098999"/>
            <a:chOff x="1539900" y="1622233"/>
            <a:chExt cx="2431345" cy="1098999"/>
          </a:xfrm>
        </p:grpSpPr>
        <p:sp>
          <p:nvSpPr>
            <p:cNvPr id="26" name="TextBox 205"/>
            <p:cNvSpPr txBox="1"/>
            <p:nvPr/>
          </p:nvSpPr>
          <p:spPr>
            <a:xfrm>
              <a:off x="1704916" y="1897032"/>
              <a:ext cx="2101312" cy="82420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MyBatis-Plus Mapper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接口，操作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MySQL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TextBox 205"/>
            <p:cNvSpPr txBox="1"/>
            <p:nvPr/>
          </p:nvSpPr>
          <p:spPr>
            <a:xfrm>
              <a:off x="1539900" y="1622233"/>
              <a:ext cx="243134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持久层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(Mapper)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396201" y="5177642"/>
            <a:ext cx="2431345" cy="1098999"/>
            <a:chOff x="1539900" y="1622233"/>
            <a:chExt cx="2431345" cy="1098999"/>
          </a:xfrm>
        </p:grpSpPr>
        <p:sp>
          <p:nvSpPr>
            <p:cNvPr id="29" name="TextBox 205"/>
            <p:cNvSpPr txBox="1"/>
            <p:nvPr/>
          </p:nvSpPr>
          <p:spPr>
            <a:xfrm>
              <a:off x="1704916" y="1897032"/>
              <a:ext cx="2101312" cy="82420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RESTful API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，统一响应格式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(Result)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TextBox 205"/>
            <p:cNvSpPr txBox="1"/>
            <p:nvPr/>
          </p:nvSpPr>
          <p:spPr>
            <a:xfrm>
              <a:off x="1539900" y="1622233"/>
              <a:ext cx="243134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接口层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(Controller)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786887" y="990549"/>
            <a:ext cx="2644072" cy="1098999"/>
            <a:chOff x="1433536" y="1622233"/>
            <a:chExt cx="2644072" cy="1098999"/>
          </a:xfrm>
        </p:grpSpPr>
        <p:sp>
          <p:nvSpPr>
            <p:cNvPr id="32" name="TextBox 205"/>
            <p:cNvSpPr txBox="1"/>
            <p:nvPr/>
          </p:nvSpPr>
          <p:spPr>
            <a:xfrm>
              <a:off x="1433536" y="1897032"/>
              <a:ext cx="2644072" cy="824200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lvl="0">
                <a:lnSpc>
                  <a:spcPct val="150000"/>
                </a:lnSpc>
                <a:spcBef>
                  <a:spcPct val="0"/>
                </a:spcBef>
                <a:defRPr sz="11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Vue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前端页面，负责交互与展示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TextBox 205"/>
            <p:cNvSpPr txBox="1"/>
            <p:nvPr/>
          </p:nvSpPr>
          <p:spPr>
            <a:xfrm>
              <a:off x="1539900" y="1622233"/>
              <a:ext cx="243134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表现层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87578" y="1855371"/>
            <a:ext cx="10456557" cy="3125414"/>
            <a:chOff x="587578" y="1903497"/>
            <a:chExt cx="10456557" cy="3125414"/>
          </a:xfrm>
        </p:grpSpPr>
        <p:grpSp>
          <p:nvGrpSpPr>
            <p:cNvPr id="8" name="组合 7"/>
            <p:cNvGrpSpPr/>
            <p:nvPr/>
          </p:nvGrpSpPr>
          <p:grpSpPr>
            <a:xfrm>
              <a:off x="587578" y="1903497"/>
              <a:ext cx="10456557" cy="3125414"/>
              <a:chOff x="587578" y="1903497"/>
              <a:chExt cx="10456557" cy="312541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" name="isļïḋê"/>
              <p:cNvSpPr/>
              <p:nvPr/>
            </p:nvSpPr>
            <p:spPr>
              <a:xfrm>
                <a:off x="587578" y="3643822"/>
                <a:ext cx="2303727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0203" y="120000"/>
                    </a:moveTo>
                    <a:cubicBezTo>
                      <a:pt x="46191" y="120000"/>
                      <a:pt x="46191" y="120000"/>
                      <a:pt x="46191" y="120000"/>
                    </a:cubicBezTo>
                    <a:cubicBezTo>
                      <a:pt x="40570" y="120000"/>
                      <a:pt x="34949" y="114640"/>
                      <a:pt x="33727" y="108089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0997" y="5359"/>
                      <a:pt x="5376" y="0"/>
                      <a:pt x="0" y="0"/>
                    </a:cubicBezTo>
                    <a:cubicBezTo>
                      <a:pt x="19796" y="0"/>
                      <a:pt x="19796" y="0"/>
                      <a:pt x="19796" y="0"/>
                    </a:cubicBezTo>
                    <a:cubicBezTo>
                      <a:pt x="73808" y="0"/>
                      <a:pt x="73808" y="0"/>
                      <a:pt x="73808" y="0"/>
                    </a:cubicBezTo>
                    <a:cubicBezTo>
                      <a:pt x="79429" y="0"/>
                      <a:pt x="85050" y="5359"/>
                      <a:pt x="86272" y="11910"/>
                    </a:cubicBezTo>
                    <a:cubicBezTo>
                      <a:pt x="107535" y="108089"/>
                      <a:pt x="107535" y="108089"/>
                      <a:pt x="107535" y="108089"/>
                    </a:cubicBezTo>
                    <a:cubicBezTo>
                      <a:pt x="109002" y="114640"/>
                      <a:pt x="114623" y="120000"/>
                      <a:pt x="120000" y="120000"/>
                    </a:cubicBezTo>
                    <a:lnTo>
                      <a:pt x="100203" y="1200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" name="iṩliḑê"/>
              <p:cNvSpPr/>
              <p:nvPr/>
            </p:nvSpPr>
            <p:spPr>
              <a:xfrm>
                <a:off x="7635024" y="3643822"/>
                <a:ext cx="2303727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0203" y="120000"/>
                    </a:moveTo>
                    <a:cubicBezTo>
                      <a:pt x="46191" y="120000"/>
                      <a:pt x="46191" y="120000"/>
                      <a:pt x="46191" y="120000"/>
                    </a:cubicBezTo>
                    <a:cubicBezTo>
                      <a:pt x="40570" y="120000"/>
                      <a:pt x="34949" y="114640"/>
                      <a:pt x="33482" y="108089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0997" y="5359"/>
                      <a:pt x="5376" y="0"/>
                      <a:pt x="0" y="0"/>
                    </a:cubicBezTo>
                    <a:cubicBezTo>
                      <a:pt x="19796" y="0"/>
                      <a:pt x="19796" y="0"/>
                      <a:pt x="19796" y="0"/>
                    </a:cubicBezTo>
                    <a:cubicBezTo>
                      <a:pt x="73808" y="0"/>
                      <a:pt x="73808" y="0"/>
                      <a:pt x="73808" y="0"/>
                    </a:cubicBezTo>
                    <a:cubicBezTo>
                      <a:pt x="79429" y="0"/>
                      <a:pt x="84806" y="5359"/>
                      <a:pt x="86272" y="11910"/>
                    </a:cubicBezTo>
                    <a:cubicBezTo>
                      <a:pt x="107535" y="108089"/>
                      <a:pt x="107535" y="108089"/>
                      <a:pt x="107535" y="108089"/>
                    </a:cubicBezTo>
                    <a:cubicBezTo>
                      <a:pt x="109002" y="114640"/>
                      <a:pt x="114623" y="120000"/>
                      <a:pt x="120000" y="120000"/>
                    </a:cubicBezTo>
                    <a:lnTo>
                      <a:pt x="100203" y="1200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1" name="ï$ľîḋe"/>
              <p:cNvSpPr/>
              <p:nvPr/>
            </p:nvSpPr>
            <p:spPr>
              <a:xfrm>
                <a:off x="5866426" y="3643822"/>
                <a:ext cx="2303727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0203" y="120000"/>
                    </a:moveTo>
                    <a:cubicBezTo>
                      <a:pt x="45947" y="120000"/>
                      <a:pt x="45947" y="120000"/>
                      <a:pt x="45947" y="120000"/>
                    </a:cubicBezTo>
                    <a:cubicBezTo>
                      <a:pt x="40570" y="120000"/>
                      <a:pt x="34949" y="114640"/>
                      <a:pt x="33482" y="108089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0997" y="5359"/>
                      <a:pt x="5376" y="0"/>
                      <a:pt x="0" y="0"/>
                    </a:cubicBezTo>
                    <a:cubicBezTo>
                      <a:pt x="19551" y="0"/>
                      <a:pt x="19551" y="0"/>
                      <a:pt x="19551" y="0"/>
                    </a:cubicBezTo>
                    <a:cubicBezTo>
                      <a:pt x="73808" y="0"/>
                      <a:pt x="73808" y="0"/>
                      <a:pt x="73808" y="0"/>
                    </a:cubicBezTo>
                    <a:cubicBezTo>
                      <a:pt x="79185" y="0"/>
                      <a:pt x="84806" y="5359"/>
                      <a:pt x="86272" y="11910"/>
                    </a:cubicBezTo>
                    <a:cubicBezTo>
                      <a:pt x="107535" y="108089"/>
                      <a:pt x="107535" y="108089"/>
                      <a:pt x="107535" y="108089"/>
                    </a:cubicBezTo>
                    <a:cubicBezTo>
                      <a:pt x="108757" y="114640"/>
                      <a:pt x="114378" y="120000"/>
                      <a:pt x="120000" y="120000"/>
                    </a:cubicBezTo>
                    <a:lnTo>
                      <a:pt x="100203" y="1200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2" name="îṧļidé"/>
              <p:cNvSpPr/>
              <p:nvPr/>
            </p:nvSpPr>
            <p:spPr>
              <a:xfrm>
                <a:off x="4095152" y="3643822"/>
                <a:ext cx="2301050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0448" y="120000"/>
                    </a:moveTo>
                    <a:cubicBezTo>
                      <a:pt x="46191" y="120000"/>
                      <a:pt x="46191" y="120000"/>
                      <a:pt x="46191" y="120000"/>
                    </a:cubicBezTo>
                    <a:cubicBezTo>
                      <a:pt x="40814" y="120000"/>
                      <a:pt x="35193" y="114640"/>
                      <a:pt x="33727" y="108089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0997" y="5359"/>
                      <a:pt x="5621" y="0"/>
                      <a:pt x="0" y="0"/>
                    </a:cubicBezTo>
                    <a:cubicBezTo>
                      <a:pt x="19796" y="0"/>
                      <a:pt x="19796" y="0"/>
                      <a:pt x="19796" y="0"/>
                    </a:cubicBezTo>
                    <a:cubicBezTo>
                      <a:pt x="74052" y="0"/>
                      <a:pt x="74052" y="0"/>
                      <a:pt x="74052" y="0"/>
                    </a:cubicBezTo>
                    <a:cubicBezTo>
                      <a:pt x="79429" y="0"/>
                      <a:pt x="85050" y="5359"/>
                      <a:pt x="86517" y="11910"/>
                    </a:cubicBezTo>
                    <a:cubicBezTo>
                      <a:pt x="107535" y="108089"/>
                      <a:pt x="107535" y="108089"/>
                      <a:pt x="107535" y="108089"/>
                    </a:cubicBezTo>
                    <a:cubicBezTo>
                      <a:pt x="109002" y="114640"/>
                      <a:pt x="114623" y="120000"/>
                      <a:pt x="120000" y="120000"/>
                    </a:cubicBezTo>
                    <a:lnTo>
                      <a:pt x="100448" y="1200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3" name="ïšḷíḑé"/>
              <p:cNvSpPr/>
              <p:nvPr/>
            </p:nvSpPr>
            <p:spPr>
              <a:xfrm>
                <a:off x="2326555" y="3643822"/>
                <a:ext cx="2303727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00203" y="120000"/>
                    </a:moveTo>
                    <a:cubicBezTo>
                      <a:pt x="46191" y="120000"/>
                      <a:pt x="46191" y="120000"/>
                      <a:pt x="46191" y="120000"/>
                    </a:cubicBezTo>
                    <a:cubicBezTo>
                      <a:pt x="40570" y="120000"/>
                      <a:pt x="34949" y="114640"/>
                      <a:pt x="33727" y="108089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2464" y="11910"/>
                      <a:pt x="12464" y="11910"/>
                      <a:pt x="12464" y="11910"/>
                    </a:cubicBezTo>
                    <a:cubicBezTo>
                      <a:pt x="10997" y="5359"/>
                      <a:pt x="5376" y="0"/>
                      <a:pt x="0" y="0"/>
                    </a:cubicBezTo>
                    <a:cubicBezTo>
                      <a:pt x="19796" y="0"/>
                      <a:pt x="19796" y="0"/>
                      <a:pt x="19796" y="0"/>
                    </a:cubicBezTo>
                    <a:cubicBezTo>
                      <a:pt x="73808" y="0"/>
                      <a:pt x="73808" y="0"/>
                      <a:pt x="73808" y="0"/>
                    </a:cubicBezTo>
                    <a:cubicBezTo>
                      <a:pt x="79429" y="0"/>
                      <a:pt x="85050" y="5359"/>
                      <a:pt x="86272" y="11910"/>
                    </a:cubicBezTo>
                    <a:cubicBezTo>
                      <a:pt x="107535" y="108089"/>
                      <a:pt x="107535" y="108089"/>
                      <a:pt x="107535" y="108089"/>
                    </a:cubicBezTo>
                    <a:cubicBezTo>
                      <a:pt x="109002" y="114640"/>
                      <a:pt x="114623" y="120000"/>
                      <a:pt x="120000" y="120000"/>
                    </a:cubicBezTo>
                    <a:lnTo>
                      <a:pt x="100203" y="1200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4" name="íşlïḍé"/>
              <p:cNvSpPr/>
              <p:nvPr/>
            </p:nvSpPr>
            <p:spPr>
              <a:xfrm>
                <a:off x="1440916" y="3643822"/>
                <a:ext cx="2301050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9796" y="120000"/>
                    </a:moveTo>
                    <a:cubicBezTo>
                      <a:pt x="74052" y="120000"/>
                      <a:pt x="74052" y="120000"/>
                      <a:pt x="74052" y="120000"/>
                    </a:cubicBezTo>
                    <a:cubicBezTo>
                      <a:pt x="79429" y="120000"/>
                      <a:pt x="85050" y="114640"/>
                      <a:pt x="86517" y="108089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9002" y="5359"/>
                      <a:pt x="114623" y="0"/>
                      <a:pt x="120000" y="0"/>
                    </a:cubicBezTo>
                    <a:cubicBezTo>
                      <a:pt x="100448" y="0"/>
                      <a:pt x="100448" y="0"/>
                      <a:pt x="100448" y="0"/>
                    </a:cubicBezTo>
                    <a:cubicBezTo>
                      <a:pt x="46191" y="0"/>
                      <a:pt x="46191" y="0"/>
                      <a:pt x="46191" y="0"/>
                    </a:cubicBezTo>
                    <a:cubicBezTo>
                      <a:pt x="40814" y="0"/>
                      <a:pt x="35193" y="5359"/>
                      <a:pt x="33727" y="11910"/>
                    </a:cubicBezTo>
                    <a:cubicBezTo>
                      <a:pt x="12464" y="108089"/>
                      <a:pt x="12464" y="108089"/>
                      <a:pt x="12464" y="108089"/>
                    </a:cubicBezTo>
                    <a:cubicBezTo>
                      <a:pt x="10997" y="114640"/>
                      <a:pt x="5621" y="120000"/>
                      <a:pt x="0" y="120000"/>
                    </a:cubicBezTo>
                    <a:lnTo>
                      <a:pt x="19796" y="120000"/>
                    </a:lnTo>
                    <a:close/>
                  </a:path>
                </a:pathLst>
              </a:custGeom>
              <a:solidFill>
                <a:srgbClr val="1C6299"/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5" name="iSḷíďe"/>
              <p:cNvSpPr/>
              <p:nvPr/>
            </p:nvSpPr>
            <p:spPr>
              <a:xfrm>
                <a:off x="3212189" y="3643822"/>
                <a:ext cx="2303727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9551" y="120000"/>
                    </a:moveTo>
                    <a:cubicBezTo>
                      <a:pt x="73808" y="120000"/>
                      <a:pt x="73808" y="120000"/>
                      <a:pt x="73808" y="120000"/>
                    </a:cubicBezTo>
                    <a:cubicBezTo>
                      <a:pt x="79185" y="120000"/>
                      <a:pt x="84806" y="114640"/>
                      <a:pt x="86272" y="108089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8757" y="5359"/>
                      <a:pt x="114378" y="0"/>
                      <a:pt x="120000" y="0"/>
                    </a:cubicBezTo>
                    <a:cubicBezTo>
                      <a:pt x="100203" y="0"/>
                      <a:pt x="100203" y="0"/>
                      <a:pt x="100203" y="0"/>
                    </a:cubicBezTo>
                    <a:cubicBezTo>
                      <a:pt x="45947" y="0"/>
                      <a:pt x="45947" y="0"/>
                      <a:pt x="45947" y="0"/>
                    </a:cubicBezTo>
                    <a:cubicBezTo>
                      <a:pt x="40570" y="0"/>
                      <a:pt x="34949" y="5359"/>
                      <a:pt x="33482" y="11910"/>
                    </a:cubicBezTo>
                    <a:cubicBezTo>
                      <a:pt x="12464" y="108089"/>
                      <a:pt x="12464" y="108089"/>
                      <a:pt x="12464" y="108089"/>
                    </a:cubicBezTo>
                    <a:cubicBezTo>
                      <a:pt x="10997" y="114640"/>
                      <a:pt x="5376" y="120000"/>
                      <a:pt x="0" y="120000"/>
                    </a:cubicBezTo>
                    <a:lnTo>
                      <a:pt x="19551" y="120000"/>
                    </a:lnTo>
                    <a:close/>
                  </a:path>
                </a:pathLst>
              </a:custGeom>
              <a:solidFill>
                <a:srgbClr val="1C6299"/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6" name="išḷïḋe"/>
              <p:cNvSpPr/>
              <p:nvPr/>
            </p:nvSpPr>
            <p:spPr>
              <a:xfrm>
                <a:off x="4980788" y="3643822"/>
                <a:ext cx="2303727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9796" y="120000"/>
                    </a:moveTo>
                    <a:cubicBezTo>
                      <a:pt x="73808" y="120000"/>
                      <a:pt x="73808" y="120000"/>
                      <a:pt x="73808" y="120000"/>
                    </a:cubicBezTo>
                    <a:cubicBezTo>
                      <a:pt x="79429" y="120000"/>
                      <a:pt x="84806" y="114640"/>
                      <a:pt x="86272" y="108089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9002" y="5359"/>
                      <a:pt x="114623" y="0"/>
                      <a:pt x="120000" y="0"/>
                    </a:cubicBezTo>
                    <a:cubicBezTo>
                      <a:pt x="100203" y="0"/>
                      <a:pt x="100203" y="0"/>
                      <a:pt x="100203" y="0"/>
                    </a:cubicBezTo>
                    <a:cubicBezTo>
                      <a:pt x="46191" y="0"/>
                      <a:pt x="46191" y="0"/>
                      <a:pt x="46191" y="0"/>
                    </a:cubicBezTo>
                    <a:cubicBezTo>
                      <a:pt x="40570" y="0"/>
                      <a:pt x="34949" y="5359"/>
                      <a:pt x="33482" y="11910"/>
                    </a:cubicBezTo>
                    <a:cubicBezTo>
                      <a:pt x="12464" y="108089"/>
                      <a:pt x="12464" y="108089"/>
                      <a:pt x="12464" y="108089"/>
                    </a:cubicBezTo>
                    <a:cubicBezTo>
                      <a:pt x="10997" y="114640"/>
                      <a:pt x="5376" y="120000"/>
                      <a:pt x="0" y="120000"/>
                    </a:cubicBezTo>
                    <a:lnTo>
                      <a:pt x="19796" y="120000"/>
                    </a:lnTo>
                    <a:close/>
                  </a:path>
                </a:pathLst>
              </a:custGeom>
              <a:solidFill>
                <a:srgbClr val="1C6299"/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7" name="ï$ļîḓè"/>
              <p:cNvSpPr/>
              <p:nvPr/>
            </p:nvSpPr>
            <p:spPr>
              <a:xfrm>
                <a:off x="6749385" y="3643822"/>
                <a:ext cx="2301050" cy="138508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9796" y="120000"/>
                    </a:moveTo>
                    <a:cubicBezTo>
                      <a:pt x="74052" y="120000"/>
                      <a:pt x="74052" y="120000"/>
                      <a:pt x="74052" y="120000"/>
                    </a:cubicBezTo>
                    <a:cubicBezTo>
                      <a:pt x="79429" y="120000"/>
                      <a:pt x="85050" y="114640"/>
                      <a:pt x="86517" y="108089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7535" y="11910"/>
                      <a:pt x="107535" y="11910"/>
                      <a:pt x="107535" y="11910"/>
                    </a:cubicBezTo>
                    <a:cubicBezTo>
                      <a:pt x="109002" y="5359"/>
                      <a:pt x="114623" y="0"/>
                      <a:pt x="120000" y="0"/>
                    </a:cubicBezTo>
                    <a:cubicBezTo>
                      <a:pt x="100448" y="0"/>
                      <a:pt x="100448" y="0"/>
                      <a:pt x="100448" y="0"/>
                    </a:cubicBezTo>
                    <a:cubicBezTo>
                      <a:pt x="46191" y="0"/>
                      <a:pt x="46191" y="0"/>
                      <a:pt x="46191" y="0"/>
                    </a:cubicBezTo>
                    <a:cubicBezTo>
                      <a:pt x="40814" y="0"/>
                      <a:pt x="35193" y="5359"/>
                      <a:pt x="33727" y="11910"/>
                    </a:cubicBezTo>
                    <a:cubicBezTo>
                      <a:pt x="12464" y="108089"/>
                      <a:pt x="12464" y="108089"/>
                      <a:pt x="12464" y="108089"/>
                    </a:cubicBezTo>
                    <a:cubicBezTo>
                      <a:pt x="10997" y="114640"/>
                      <a:pt x="5621" y="120000"/>
                      <a:pt x="0" y="120000"/>
                    </a:cubicBezTo>
                    <a:lnTo>
                      <a:pt x="19796" y="120000"/>
                    </a:lnTo>
                    <a:close/>
                  </a:path>
                </a:pathLst>
              </a:custGeom>
              <a:solidFill>
                <a:srgbClr val="1C6299"/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8" name="ïşḷîḑè"/>
              <p:cNvSpPr/>
              <p:nvPr/>
            </p:nvSpPr>
            <p:spPr>
              <a:xfrm>
                <a:off x="8676193" y="1903497"/>
                <a:ext cx="2367942" cy="3125414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0" y="120000"/>
                    </a:moveTo>
                    <a:cubicBezTo>
                      <a:pt x="17821" y="120000"/>
                      <a:pt x="17821" y="120000"/>
                      <a:pt x="17821" y="120000"/>
                    </a:cubicBezTo>
                    <a:cubicBezTo>
                      <a:pt x="66772" y="120000"/>
                      <a:pt x="66772" y="120000"/>
                      <a:pt x="66772" y="120000"/>
                    </a:cubicBezTo>
                    <a:cubicBezTo>
                      <a:pt x="71762" y="120000"/>
                      <a:pt x="76990" y="116243"/>
                      <a:pt x="78178" y="111823"/>
                    </a:cubicBezTo>
                    <a:cubicBezTo>
                      <a:pt x="95524" y="51712"/>
                      <a:pt x="95524" y="51712"/>
                      <a:pt x="95524" y="51712"/>
                    </a:cubicBezTo>
                    <a:cubicBezTo>
                      <a:pt x="113584" y="51712"/>
                      <a:pt x="113584" y="51712"/>
                      <a:pt x="113584" y="51712"/>
                    </a:cubicBezTo>
                    <a:cubicBezTo>
                      <a:pt x="118336" y="51712"/>
                      <a:pt x="120000" y="48618"/>
                      <a:pt x="117148" y="44861"/>
                    </a:cubicBezTo>
                    <a:cubicBezTo>
                      <a:pt x="85306" y="4419"/>
                      <a:pt x="85306" y="4419"/>
                      <a:pt x="85306" y="4419"/>
                    </a:cubicBezTo>
                    <a:cubicBezTo>
                      <a:pt x="82455" y="883"/>
                      <a:pt x="76752" y="0"/>
                      <a:pt x="72950" y="2872"/>
                    </a:cubicBezTo>
                    <a:cubicBezTo>
                      <a:pt x="13544" y="46629"/>
                      <a:pt x="13544" y="46629"/>
                      <a:pt x="13544" y="46629"/>
                    </a:cubicBezTo>
                    <a:cubicBezTo>
                      <a:pt x="9742" y="49281"/>
                      <a:pt x="10455" y="51712"/>
                      <a:pt x="15445" y="51712"/>
                    </a:cubicBezTo>
                    <a:cubicBezTo>
                      <a:pt x="28752" y="51712"/>
                      <a:pt x="28752" y="51712"/>
                      <a:pt x="28752" y="51712"/>
                    </a:cubicBezTo>
                    <a:cubicBezTo>
                      <a:pt x="11405" y="111823"/>
                      <a:pt x="11405" y="111823"/>
                      <a:pt x="11405" y="111823"/>
                    </a:cubicBezTo>
                    <a:cubicBezTo>
                      <a:pt x="11405" y="111823"/>
                      <a:pt x="11405" y="111823"/>
                      <a:pt x="11405" y="111823"/>
                    </a:cubicBezTo>
                    <a:cubicBezTo>
                      <a:pt x="9980" y="116243"/>
                      <a:pt x="4990" y="120000"/>
                      <a:pt x="0" y="120000"/>
                    </a:cubicBezTo>
                    <a:close/>
                  </a:path>
                </a:pathLst>
              </a:custGeom>
              <a:solidFill>
                <a:srgbClr val="1C6299"/>
              </a:solidFill>
              <a:ln w="952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</p:grp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0923" y="4113137"/>
              <a:ext cx="504000" cy="504000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0697" y="4113137"/>
              <a:ext cx="504000" cy="504000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0471" y="4113137"/>
              <a:ext cx="504000" cy="504000"/>
            </a:xfrm>
            <a:prstGeom prst="rect">
              <a:avLst/>
            </a:prstGeom>
          </p:spPr>
        </p:pic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0245" y="4113137"/>
              <a:ext cx="504000" cy="504000"/>
            </a:xfrm>
            <a:prstGeom prst="rect">
              <a:avLst/>
            </a:prstGeom>
          </p:spPr>
        </p:pic>
      </p:grpSp>
      <p:sp>
        <p:nvSpPr>
          <p:cNvPr id="47" name="文本框 46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57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zh-CN" altLang="en-US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逻辑架构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59" name="组合 58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60" name="椭圆 59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椭圆 61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63" name="图片 6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58171" y="2105561"/>
            <a:ext cx="2442210" cy="2646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98052">
                      <a:schemeClr val="bg1"/>
                    </a:gs>
                    <a:gs pos="0">
                      <a:srgbClr val="1C6299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04</a:t>
            </a:r>
            <a:endParaRPr kumimoji="0" lang="zh-CN" altLang="en-US" sz="16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98052">
                    <a:schemeClr val="bg1"/>
                  </a:gs>
                  <a:gs pos="0">
                    <a:srgbClr val="1C6299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140960" y="2143125"/>
            <a:ext cx="7132955" cy="1035685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4000" b="1" i="0" u="none" strike="noStrike" kern="1200" cap="none" spc="10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核心功能实现</a:t>
            </a:r>
            <a:endParaRPr kumimoji="0" lang="zh-CN" sz="4000" b="1" i="0" u="none" strike="noStrike" kern="1200" cap="none" spc="10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" name="文本占位符 2"/>
          <p:cNvSpPr txBox="1"/>
          <p:nvPr/>
        </p:nvSpPr>
        <p:spPr>
          <a:xfrm>
            <a:off x="5560176" y="3787775"/>
            <a:ext cx="6792912" cy="92710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 spc="1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Core Function Implementation</a:t>
            </a: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619693" y="2143125"/>
            <a:ext cx="0" cy="257175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Dot"/>
            <a:miter lim="800000"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5560176" y="3432579"/>
            <a:ext cx="720000" cy="1016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272905" y="624205"/>
            <a:ext cx="6402070" cy="59194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4"/>
          <a:stretch>
            <a:fillRect/>
          </a:stretch>
        </p:blipFill>
        <p:spPr>
          <a:xfrm>
            <a:off x="2535555" y="7359650"/>
            <a:ext cx="6964680" cy="6102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32" name="图片 31"/>
          <p:cNvPicPr/>
          <p:nvPr/>
        </p:nvPicPr>
        <p:blipFill>
          <a:blip r:embed="rId2"/>
          <a:stretch>
            <a:fillRect/>
          </a:stretch>
        </p:blipFill>
        <p:spPr>
          <a:xfrm>
            <a:off x="2329180" y="382905"/>
            <a:ext cx="6964680" cy="6102985"/>
          </a:xfrm>
          <a:prstGeom prst="rect">
            <a:avLst/>
          </a:prstGeom>
        </p:spPr>
      </p:pic>
      <p:sp>
        <p:nvSpPr>
          <p:cNvPr id="33" name="Rectangle 2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82065" y="823595"/>
            <a:ext cx="2381250" cy="64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登录模块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1C62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椭圆 33"/>
          <p:cNvSpPr/>
          <p:nvPr>
            <p:custDataLst>
              <p:tags r:id="rId4"/>
            </p:custDataLst>
          </p:nvPr>
        </p:nvSpPr>
        <p:spPr>
          <a:xfrm>
            <a:off x="771559" y="911630"/>
            <a:ext cx="467996" cy="467996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6F3A97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76005" y="-1667541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737203" y="-1667541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513086" y="-6272629"/>
            <a:ext cx="2442210" cy="2646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98052">
                      <a:schemeClr val="bg1"/>
                    </a:gs>
                    <a:gs pos="0">
                      <a:srgbClr val="1C6299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04</a:t>
            </a:r>
            <a:endParaRPr kumimoji="0" lang="zh-CN" altLang="en-US" sz="16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98052">
                    <a:schemeClr val="bg1"/>
                  </a:gs>
                  <a:gs pos="0">
                    <a:srgbClr val="1C6299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标题 1"/>
          <p:cNvSpPr txBox="1"/>
          <p:nvPr/>
        </p:nvSpPr>
        <p:spPr>
          <a:xfrm>
            <a:off x="5095875" y="-6235065"/>
            <a:ext cx="7132955" cy="1035685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4000" b="1" i="0" u="none" strike="noStrike" kern="1200" cap="none" spc="10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核心功能实现</a:t>
            </a:r>
            <a:endParaRPr kumimoji="0" lang="zh-CN" sz="4000" b="1" i="0" u="none" strike="noStrike" kern="1200" cap="none" spc="10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1" name="文本占位符 2"/>
          <p:cNvSpPr txBox="1"/>
          <p:nvPr/>
        </p:nvSpPr>
        <p:spPr>
          <a:xfrm>
            <a:off x="5515091" y="-4590415"/>
            <a:ext cx="6792912" cy="92710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 spc="1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Core Function Implementation</a:t>
            </a: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4574608" y="-6235065"/>
            <a:ext cx="0" cy="257175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Dot"/>
            <a:miter lim="800000"/>
          </a:ln>
          <a:effectLst/>
        </p:spPr>
      </p:cxnSp>
      <p:sp>
        <p:nvSpPr>
          <p:cNvPr id="53" name="矩形 52"/>
          <p:cNvSpPr/>
          <p:nvPr/>
        </p:nvSpPr>
        <p:spPr>
          <a:xfrm>
            <a:off x="5515091" y="-4945611"/>
            <a:ext cx="720000" cy="1016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任意多边形: 形状 16"/>
          <p:cNvSpPr/>
          <p:nvPr/>
        </p:nvSpPr>
        <p:spPr>
          <a:xfrm flipH="1">
            <a:off x="81915" y="-825119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752" y="-8114515"/>
            <a:ext cx="1663415" cy="487234"/>
          </a:xfrm>
          <a:prstGeom prst="rect">
            <a:avLst/>
          </a:prstGeom>
        </p:spPr>
      </p:pic>
      <p:sp>
        <p:nvSpPr>
          <p:cNvPr id="56" name="矩形 55"/>
          <p:cNvSpPr/>
          <p:nvPr/>
        </p:nvSpPr>
        <p:spPr>
          <a:xfrm>
            <a:off x="81915" y="-168119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76005" y="-1667541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9219707" y="-1667541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5">
            <a:alphaModFix amt="38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 flipV="1">
            <a:off x="9272905" y="624205"/>
            <a:ext cx="6402070" cy="5919470"/>
          </a:xfrm>
          <a:prstGeom prst="rect">
            <a:avLst/>
          </a:prstGeom>
        </p:spPr>
      </p:pic>
      <p:pic>
        <p:nvPicPr>
          <p:cNvPr id="60" name="图片 59"/>
          <p:cNvPicPr/>
          <p:nvPr/>
        </p:nvPicPr>
        <p:blipFill>
          <a:blip r:embed="rId7"/>
          <a:stretch>
            <a:fillRect/>
          </a:stretch>
        </p:blipFill>
        <p:spPr>
          <a:xfrm>
            <a:off x="716280" y="7826375"/>
            <a:ext cx="9235440" cy="4490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3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4" name="Rectangle 2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82065" y="823595"/>
            <a:ext cx="2381250" cy="64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用户端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1C62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771559" y="911630"/>
            <a:ext cx="467996" cy="467996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6F3A97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716280" y="1338580"/>
            <a:ext cx="9235440" cy="44907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alphaModFix amt="38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9272905" y="624205"/>
            <a:ext cx="6402070" cy="5919470"/>
          </a:xfrm>
          <a:prstGeom prst="rect">
            <a:avLst/>
          </a:prstGeom>
        </p:spPr>
      </p:pic>
      <p:pic>
        <p:nvPicPr>
          <p:cNvPr id="32" name="图片 31"/>
          <p:cNvPicPr/>
          <p:nvPr/>
        </p:nvPicPr>
        <p:blipFill>
          <a:blip r:embed="rId7"/>
          <a:stretch>
            <a:fillRect/>
          </a:stretch>
        </p:blipFill>
        <p:spPr>
          <a:xfrm>
            <a:off x="2329180" y="-8216265"/>
            <a:ext cx="6964680" cy="6102985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8"/>
          <a:stretch>
            <a:fillRect/>
          </a:stretch>
        </p:blipFill>
        <p:spPr>
          <a:xfrm>
            <a:off x="389890" y="8000365"/>
            <a:ext cx="9718040" cy="4532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389890" y="1447165"/>
            <a:ext cx="9718040" cy="4532630"/>
          </a:xfrm>
          <a:prstGeom prst="rect">
            <a:avLst/>
          </a:prstGeom>
        </p:spPr>
      </p:pic>
      <p:sp>
        <p:nvSpPr>
          <p:cNvPr id="33" name="Rectangle 2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82065" y="823595"/>
            <a:ext cx="2381250" cy="64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管理端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1C62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椭圆 33"/>
          <p:cNvSpPr/>
          <p:nvPr>
            <p:custDataLst>
              <p:tags r:id="rId4"/>
            </p:custDataLst>
          </p:nvPr>
        </p:nvSpPr>
        <p:spPr>
          <a:xfrm>
            <a:off x="771559" y="911630"/>
            <a:ext cx="467996" cy="467996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6F3A97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alphaModFix amt="38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 flipV="1">
            <a:off x="9272905" y="624205"/>
            <a:ext cx="6402070" cy="591947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7"/>
          <a:stretch>
            <a:fillRect/>
          </a:stretch>
        </p:blipFill>
        <p:spPr>
          <a:xfrm>
            <a:off x="594360" y="-5694045"/>
            <a:ext cx="9235440" cy="4490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58171" y="2105561"/>
            <a:ext cx="2520950" cy="2646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98052">
                      <a:schemeClr val="bg1"/>
                    </a:gs>
                    <a:gs pos="0">
                      <a:srgbClr val="1C6299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05</a:t>
            </a:r>
            <a:endParaRPr kumimoji="0" lang="zh-CN" altLang="en-US" sz="16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98052">
                    <a:schemeClr val="bg1"/>
                  </a:gs>
                  <a:gs pos="0">
                    <a:srgbClr val="1C6299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140960" y="2143125"/>
            <a:ext cx="7132955" cy="1035685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10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技术难点与解决方案</a:t>
            </a:r>
            <a:endParaRPr kumimoji="0" lang="zh-CN" altLang="en-US" sz="4000" b="1" i="0" u="none" strike="noStrike" kern="1200" cap="none" spc="10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" name="文本占位符 2"/>
          <p:cNvSpPr txBox="1"/>
          <p:nvPr/>
        </p:nvSpPr>
        <p:spPr>
          <a:xfrm>
            <a:off x="5560176" y="3787775"/>
            <a:ext cx="6792912" cy="92710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 spc="1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Technical Difficulties and Solutions</a:t>
            </a: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619693" y="2143125"/>
            <a:ext cx="0" cy="257175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Dot"/>
            <a:miter lim="800000"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5560176" y="3432579"/>
            <a:ext cx="720000" cy="1016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272905" y="624205"/>
            <a:ext cx="6402070" cy="5919470"/>
          </a:xfrm>
          <a:prstGeom prst="rect">
            <a:avLst/>
          </a:prstGeom>
        </p:spPr>
      </p:pic>
      <p:sp>
        <p:nvSpPr>
          <p:cNvPr id="60" name="Rectangle 24"/>
          <p:cNvSpPr>
            <a:spLocks noChangeArrowheads="1"/>
          </p:cNvSpPr>
          <p:nvPr/>
        </p:nvSpPr>
        <p:spPr bwMode="auto">
          <a:xfrm>
            <a:off x="-4660900" y="624205"/>
            <a:ext cx="3370580" cy="1884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跨域资源共享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(CORS)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问题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在前后端联调初期，前端调用后端接口时频繁出现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CORS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错误，导致请求被浏览器拦截。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原因分析：浏览器的同源策略限制了不同源（协议、域名或端口不同）之间的资源交互。前端运行在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localhost:5173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，而后端运行在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localhost:8081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，属于跨域请求。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解决方案：在开发环境中，通过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Vite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‘server.proxy‘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配置反向代理，将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‘/api‘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开头的请求转发到后端服务器，从而绕过浏览器的同源策略限制。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-5203190" y="4041140"/>
            <a:ext cx="4454525" cy="235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MyBatis-Plus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的分页失效问题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在开发初期，发现调用分页接口时，返回的数据总是全部数据，分页参数未生效。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原因分析：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MyBatis-Plus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的分页功能需要配置拦截器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PaginationInnerInterceptor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如果未在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Spring Boot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配置类中注册该拦截器，分页功能将不会执行。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解决方案：创建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MybatisPlusConfig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配置类，添加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MybatisPlusInterceptor Bean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，并加入分页拦截器。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Rectangle 24"/>
          <p:cNvSpPr>
            <a:spLocks noChangeArrowheads="1"/>
          </p:cNvSpPr>
          <p:nvPr/>
        </p:nvSpPr>
        <p:spPr bwMode="auto">
          <a:xfrm>
            <a:off x="15044420" y="1242060"/>
            <a:ext cx="3706495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事务控制失效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在同一个类中，一个非事务方法调用同类中的事务方法（带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@Transactional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注解），导致事务失效。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原因分析：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Spring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的事务基于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AOP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代理实现。同类方法调用时，直接调用的是目标对象的方法，而非代理对象的方法，因此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AOP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切面无法拦截。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解决方案：将事务方法抽取到独立的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Service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类中，或者在调用时通过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AopCon-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text.currentProxy()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获取代理对象进行调用。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52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52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528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bldLvl="0" animBg="1"/>
      <p:bldP spid="60" grpId="0"/>
      <p:bldP spid="19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775585" y="570865"/>
            <a:ext cx="6402070" cy="591947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905" y="4025903"/>
            <a:ext cx="5024331" cy="3451874"/>
          </a:xfrm>
          <a:prstGeom prst="rect">
            <a:avLst/>
          </a:prstGeom>
        </p:spPr>
      </p:pic>
      <p:graphicFrame>
        <p:nvGraphicFramePr>
          <p:cNvPr id="44" name="图表 43"/>
          <p:cNvGraphicFramePr/>
          <p:nvPr/>
        </p:nvGraphicFramePr>
        <p:xfrm>
          <a:off x="4193301" y="1601358"/>
          <a:ext cx="3566038" cy="3667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4449012" y="2194362"/>
            <a:ext cx="3824257" cy="3825438"/>
            <a:chOff x="4449012" y="2194362"/>
            <a:chExt cx="3824257" cy="3825438"/>
          </a:xfrm>
        </p:grpSpPr>
        <p:grpSp>
          <p:nvGrpSpPr>
            <p:cNvPr id="46" name="组合 45"/>
            <p:cNvGrpSpPr/>
            <p:nvPr/>
          </p:nvGrpSpPr>
          <p:grpSpPr>
            <a:xfrm>
              <a:off x="4449012" y="2194362"/>
              <a:ext cx="3824257" cy="3825438"/>
              <a:chOff x="3491329" y="1261482"/>
              <a:chExt cx="3006725" cy="3006726"/>
            </a:xfrm>
          </p:grpSpPr>
          <p:grpSp>
            <p:nvGrpSpPr>
              <p:cNvPr id="47" name="组合 46"/>
              <p:cNvGrpSpPr/>
              <p:nvPr/>
            </p:nvGrpSpPr>
            <p:grpSpPr>
              <a:xfrm rot="900000">
                <a:off x="3491329" y="1261482"/>
                <a:ext cx="3006725" cy="3006726"/>
                <a:chOff x="3491329" y="1261482"/>
                <a:chExt cx="3006725" cy="3006726"/>
              </a:xfrm>
            </p:grpSpPr>
            <p:grpSp>
              <p:nvGrpSpPr>
                <p:cNvPr id="49" name="组合 48"/>
                <p:cNvGrpSpPr/>
                <p:nvPr/>
              </p:nvGrpSpPr>
              <p:grpSpPr>
                <a:xfrm>
                  <a:off x="5015329" y="2787070"/>
                  <a:ext cx="1482725" cy="1481138"/>
                  <a:chOff x="4549776" y="2547938"/>
                  <a:chExt cx="1482725" cy="1481138"/>
                </a:xfrm>
              </p:grpSpPr>
              <p:sp>
                <p:nvSpPr>
                  <p:cNvPr id="51" name="Freeform 5"/>
                  <p:cNvSpPr/>
                  <p:nvPr/>
                </p:nvSpPr>
                <p:spPr bwMode="auto">
                  <a:xfrm>
                    <a:off x="4735513" y="2732088"/>
                    <a:ext cx="538163" cy="538163"/>
                  </a:xfrm>
                  <a:custGeom>
                    <a:avLst/>
                    <a:gdLst>
                      <a:gd name="T0" fmla="*/ 339 w 339"/>
                      <a:gd name="T1" fmla="*/ 270 h 339"/>
                      <a:gd name="T2" fmla="*/ 270 w 339"/>
                      <a:gd name="T3" fmla="*/ 339 h 339"/>
                      <a:gd name="T4" fmla="*/ 0 w 339"/>
                      <a:gd name="T5" fmla="*/ 71 h 339"/>
                      <a:gd name="T6" fmla="*/ 70 w 339"/>
                      <a:gd name="T7" fmla="*/ 0 h 339"/>
                      <a:gd name="T8" fmla="*/ 339 w 339"/>
                      <a:gd name="T9" fmla="*/ 270 h 3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39" h="339">
                        <a:moveTo>
                          <a:pt x="339" y="270"/>
                        </a:moveTo>
                        <a:lnTo>
                          <a:pt x="270" y="339"/>
                        </a:lnTo>
                        <a:lnTo>
                          <a:pt x="0" y="71"/>
                        </a:lnTo>
                        <a:lnTo>
                          <a:pt x="70" y="0"/>
                        </a:lnTo>
                        <a:lnTo>
                          <a:pt x="339" y="270"/>
                        </a:lnTo>
                        <a:close/>
                      </a:path>
                    </a:pathLst>
                  </a:custGeom>
                  <a:solidFill>
                    <a:srgbClr val="94949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52" name="Freeform 6"/>
                  <p:cNvSpPr/>
                  <p:nvPr/>
                </p:nvSpPr>
                <p:spPr bwMode="auto">
                  <a:xfrm>
                    <a:off x="4549776" y="2547938"/>
                    <a:ext cx="388938" cy="388938"/>
                  </a:xfrm>
                  <a:custGeom>
                    <a:avLst/>
                    <a:gdLst>
                      <a:gd name="T0" fmla="*/ 188 w 197"/>
                      <a:gd name="T1" fmla="*/ 77 h 197"/>
                      <a:gd name="T2" fmla="*/ 188 w 197"/>
                      <a:gd name="T3" fmla="*/ 111 h 197"/>
                      <a:gd name="T4" fmla="*/ 112 w 197"/>
                      <a:gd name="T5" fmla="*/ 187 h 197"/>
                      <a:gd name="T6" fmla="*/ 78 w 197"/>
                      <a:gd name="T7" fmla="*/ 187 h 197"/>
                      <a:gd name="T8" fmla="*/ 10 w 197"/>
                      <a:gd name="T9" fmla="*/ 120 h 197"/>
                      <a:gd name="T10" fmla="*/ 10 w 197"/>
                      <a:gd name="T11" fmla="*/ 86 h 197"/>
                      <a:gd name="T12" fmla="*/ 86 w 197"/>
                      <a:gd name="T13" fmla="*/ 9 h 197"/>
                      <a:gd name="T14" fmla="*/ 120 w 197"/>
                      <a:gd name="T15" fmla="*/ 9 h 197"/>
                      <a:gd name="T16" fmla="*/ 188 w 197"/>
                      <a:gd name="T17" fmla="*/ 77 h 19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7" h="197">
                        <a:moveTo>
                          <a:pt x="188" y="77"/>
                        </a:moveTo>
                        <a:cubicBezTo>
                          <a:pt x="197" y="87"/>
                          <a:pt x="197" y="102"/>
                          <a:pt x="188" y="111"/>
                        </a:cubicBezTo>
                        <a:cubicBezTo>
                          <a:pt x="112" y="187"/>
                          <a:pt x="112" y="187"/>
                          <a:pt x="112" y="187"/>
                        </a:cubicBezTo>
                        <a:cubicBezTo>
                          <a:pt x="102" y="197"/>
                          <a:pt x="87" y="197"/>
                          <a:pt x="78" y="187"/>
                        </a:cubicBezTo>
                        <a:cubicBezTo>
                          <a:pt x="10" y="120"/>
                          <a:pt x="10" y="120"/>
                          <a:pt x="10" y="120"/>
                        </a:cubicBezTo>
                        <a:cubicBezTo>
                          <a:pt x="0" y="110"/>
                          <a:pt x="0" y="95"/>
                          <a:pt x="10" y="86"/>
                        </a:cubicBezTo>
                        <a:cubicBezTo>
                          <a:pt x="86" y="9"/>
                          <a:pt x="86" y="9"/>
                          <a:pt x="86" y="9"/>
                        </a:cubicBezTo>
                        <a:cubicBezTo>
                          <a:pt x="95" y="0"/>
                          <a:pt x="111" y="0"/>
                          <a:pt x="120" y="9"/>
                        </a:cubicBezTo>
                        <a:lnTo>
                          <a:pt x="188" y="77"/>
                        </a:lnTo>
                        <a:close/>
                      </a:path>
                    </a:pathLst>
                  </a:cu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53" name="Freeform 7"/>
                  <p:cNvSpPr/>
                  <p:nvPr/>
                </p:nvSpPr>
                <p:spPr bwMode="auto">
                  <a:xfrm>
                    <a:off x="5057776" y="3052763"/>
                    <a:ext cx="974725" cy="976313"/>
                  </a:xfrm>
                  <a:custGeom>
                    <a:avLst/>
                    <a:gdLst>
                      <a:gd name="T0" fmla="*/ 86 w 494"/>
                      <a:gd name="T1" fmla="*/ 10 h 495"/>
                      <a:gd name="T2" fmla="*/ 41 w 494"/>
                      <a:gd name="T3" fmla="*/ 55 h 495"/>
                      <a:gd name="T4" fmla="*/ 31 w 494"/>
                      <a:gd name="T5" fmla="*/ 64 h 495"/>
                      <a:gd name="T6" fmla="*/ 26 w 494"/>
                      <a:gd name="T7" fmla="*/ 70 h 495"/>
                      <a:gd name="T8" fmla="*/ 9 w 494"/>
                      <a:gd name="T9" fmla="*/ 86 h 495"/>
                      <a:gd name="T10" fmla="*/ 9 w 494"/>
                      <a:gd name="T11" fmla="*/ 120 h 495"/>
                      <a:gd name="T12" fmla="*/ 374 w 494"/>
                      <a:gd name="T13" fmla="*/ 485 h 495"/>
                      <a:gd name="T14" fmla="*/ 408 w 494"/>
                      <a:gd name="T15" fmla="*/ 485 h 495"/>
                      <a:gd name="T16" fmla="*/ 425 w 494"/>
                      <a:gd name="T17" fmla="*/ 469 h 495"/>
                      <a:gd name="T18" fmla="*/ 430 w 494"/>
                      <a:gd name="T19" fmla="*/ 463 h 495"/>
                      <a:gd name="T20" fmla="*/ 440 w 494"/>
                      <a:gd name="T21" fmla="*/ 454 h 495"/>
                      <a:gd name="T22" fmla="*/ 485 w 494"/>
                      <a:gd name="T23" fmla="*/ 409 h 495"/>
                      <a:gd name="T24" fmla="*/ 485 w 494"/>
                      <a:gd name="T25" fmla="*/ 375 h 495"/>
                      <a:gd name="T26" fmla="*/ 119 w 494"/>
                      <a:gd name="T27" fmla="*/ 10 h 495"/>
                      <a:gd name="T28" fmla="*/ 86 w 494"/>
                      <a:gd name="T29" fmla="*/ 10 h 4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494" h="495">
                        <a:moveTo>
                          <a:pt x="86" y="10"/>
                        </a:moveTo>
                        <a:cubicBezTo>
                          <a:pt x="41" y="55"/>
                          <a:pt x="41" y="55"/>
                          <a:pt x="41" y="55"/>
                        </a:cubicBezTo>
                        <a:cubicBezTo>
                          <a:pt x="31" y="64"/>
                          <a:pt x="31" y="64"/>
                          <a:pt x="31" y="64"/>
                        </a:cubicBezTo>
                        <a:cubicBezTo>
                          <a:pt x="26" y="70"/>
                          <a:pt x="26" y="70"/>
                          <a:pt x="26" y="70"/>
                        </a:cubicBezTo>
                        <a:cubicBezTo>
                          <a:pt x="9" y="86"/>
                          <a:pt x="9" y="86"/>
                          <a:pt x="9" y="86"/>
                        </a:cubicBezTo>
                        <a:cubicBezTo>
                          <a:pt x="0" y="95"/>
                          <a:pt x="0" y="111"/>
                          <a:pt x="9" y="120"/>
                        </a:cubicBezTo>
                        <a:cubicBezTo>
                          <a:pt x="374" y="485"/>
                          <a:pt x="374" y="485"/>
                          <a:pt x="374" y="485"/>
                        </a:cubicBezTo>
                        <a:cubicBezTo>
                          <a:pt x="384" y="495"/>
                          <a:pt x="399" y="495"/>
                          <a:pt x="408" y="485"/>
                        </a:cubicBezTo>
                        <a:cubicBezTo>
                          <a:pt x="425" y="469"/>
                          <a:pt x="425" y="469"/>
                          <a:pt x="425" y="469"/>
                        </a:cubicBezTo>
                        <a:cubicBezTo>
                          <a:pt x="430" y="463"/>
                          <a:pt x="430" y="463"/>
                          <a:pt x="430" y="463"/>
                        </a:cubicBezTo>
                        <a:cubicBezTo>
                          <a:pt x="440" y="454"/>
                          <a:pt x="440" y="454"/>
                          <a:pt x="440" y="454"/>
                        </a:cubicBezTo>
                        <a:cubicBezTo>
                          <a:pt x="485" y="409"/>
                          <a:pt x="485" y="409"/>
                          <a:pt x="485" y="409"/>
                        </a:cubicBezTo>
                        <a:cubicBezTo>
                          <a:pt x="494" y="399"/>
                          <a:pt x="494" y="384"/>
                          <a:pt x="485" y="375"/>
                        </a:cubicBezTo>
                        <a:cubicBezTo>
                          <a:pt x="119" y="10"/>
                          <a:pt x="119" y="10"/>
                          <a:pt x="119" y="10"/>
                        </a:cubicBezTo>
                        <a:cubicBezTo>
                          <a:pt x="110" y="0"/>
                          <a:pt x="95" y="0"/>
                          <a:pt x="86" y="10"/>
                        </a:cubicBezTo>
                        <a:close/>
                      </a:path>
                    </a:pathLst>
                  </a:custGeom>
                  <a:solidFill>
                    <a:srgbClr val="76767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54" name="Freeform 8"/>
                  <p:cNvSpPr/>
                  <p:nvPr/>
                </p:nvSpPr>
                <p:spPr bwMode="auto">
                  <a:xfrm>
                    <a:off x="5057776" y="3190875"/>
                    <a:ext cx="838200" cy="838200"/>
                  </a:xfrm>
                  <a:custGeom>
                    <a:avLst/>
                    <a:gdLst>
                      <a:gd name="T0" fmla="*/ 9 w 425"/>
                      <a:gd name="T1" fmla="*/ 16 h 425"/>
                      <a:gd name="T2" fmla="*/ 9 w 425"/>
                      <a:gd name="T3" fmla="*/ 50 h 425"/>
                      <a:gd name="T4" fmla="*/ 374 w 425"/>
                      <a:gd name="T5" fmla="*/ 415 h 425"/>
                      <a:gd name="T6" fmla="*/ 408 w 425"/>
                      <a:gd name="T7" fmla="*/ 415 h 425"/>
                      <a:gd name="T8" fmla="*/ 425 w 425"/>
                      <a:gd name="T9" fmla="*/ 399 h 425"/>
                      <a:gd name="T10" fmla="*/ 26 w 425"/>
                      <a:gd name="T11" fmla="*/ 0 h 425"/>
                      <a:gd name="T12" fmla="*/ 9 w 425"/>
                      <a:gd name="T13" fmla="*/ 16 h 4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25" h="425">
                        <a:moveTo>
                          <a:pt x="9" y="16"/>
                        </a:moveTo>
                        <a:cubicBezTo>
                          <a:pt x="0" y="25"/>
                          <a:pt x="0" y="41"/>
                          <a:pt x="9" y="50"/>
                        </a:cubicBezTo>
                        <a:cubicBezTo>
                          <a:pt x="374" y="415"/>
                          <a:pt x="374" y="415"/>
                          <a:pt x="374" y="415"/>
                        </a:cubicBezTo>
                        <a:cubicBezTo>
                          <a:pt x="384" y="425"/>
                          <a:pt x="399" y="425"/>
                          <a:pt x="408" y="415"/>
                        </a:cubicBezTo>
                        <a:cubicBezTo>
                          <a:pt x="425" y="399"/>
                          <a:pt x="425" y="399"/>
                          <a:pt x="425" y="399"/>
                        </a:cubicBezTo>
                        <a:cubicBezTo>
                          <a:pt x="26" y="0"/>
                          <a:pt x="26" y="0"/>
                          <a:pt x="26" y="0"/>
                        </a:cubicBezTo>
                        <a:lnTo>
                          <a:pt x="9" y="16"/>
                        </a:lnTo>
                        <a:close/>
                      </a:path>
                    </a:pathLst>
                  </a:custGeom>
                  <a:solidFill>
                    <a:srgbClr val="5A5A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55" name="Freeform 9"/>
                  <p:cNvSpPr/>
                  <p:nvPr/>
                </p:nvSpPr>
                <p:spPr bwMode="auto">
                  <a:xfrm>
                    <a:off x="5118101" y="3162300"/>
                    <a:ext cx="806450" cy="804863"/>
                  </a:xfrm>
                  <a:custGeom>
                    <a:avLst/>
                    <a:gdLst>
                      <a:gd name="T0" fmla="*/ 0 w 508"/>
                      <a:gd name="T1" fmla="*/ 11 h 507"/>
                      <a:gd name="T2" fmla="*/ 496 w 508"/>
                      <a:gd name="T3" fmla="*/ 507 h 507"/>
                      <a:gd name="T4" fmla="*/ 508 w 508"/>
                      <a:gd name="T5" fmla="*/ 496 h 507"/>
                      <a:gd name="T6" fmla="*/ 13 w 508"/>
                      <a:gd name="T7" fmla="*/ 0 h 507"/>
                      <a:gd name="T8" fmla="*/ 0 w 508"/>
                      <a:gd name="T9" fmla="*/ 11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08" h="507">
                        <a:moveTo>
                          <a:pt x="0" y="11"/>
                        </a:moveTo>
                        <a:lnTo>
                          <a:pt x="496" y="507"/>
                        </a:lnTo>
                        <a:lnTo>
                          <a:pt x="508" y="496"/>
                        </a:lnTo>
                        <a:lnTo>
                          <a:pt x="13" y="0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5A5A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56" name="Freeform 10"/>
                  <p:cNvSpPr/>
                  <p:nvPr/>
                </p:nvSpPr>
                <p:spPr bwMode="auto">
                  <a:xfrm>
                    <a:off x="4619626" y="2768600"/>
                    <a:ext cx="182563" cy="168275"/>
                  </a:xfrm>
                  <a:custGeom>
                    <a:avLst/>
                    <a:gdLst>
                      <a:gd name="T0" fmla="*/ 0 w 93"/>
                      <a:gd name="T1" fmla="*/ 33 h 85"/>
                      <a:gd name="T2" fmla="*/ 43 w 93"/>
                      <a:gd name="T3" fmla="*/ 75 h 85"/>
                      <a:gd name="T4" fmla="*/ 77 w 93"/>
                      <a:gd name="T5" fmla="*/ 75 h 85"/>
                      <a:gd name="T6" fmla="*/ 93 w 93"/>
                      <a:gd name="T7" fmla="*/ 59 h 85"/>
                      <a:gd name="T8" fmla="*/ 34 w 93"/>
                      <a:gd name="T9" fmla="*/ 0 h 85"/>
                      <a:gd name="T10" fmla="*/ 0 w 93"/>
                      <a:gd name="T11" fmla="*/ 33 h 8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3" h="85">
                        <a:moveTo>
                          <a:pt x="0" y="33"/>
                        </a:moveTo>
                        <a:cubicBezTo>
                          <a:pt x="43" y="75"/>
                          <a:pt x="43" y="75"/>
                          <a:pt x="43" y="75"/>
                        </a:cubicBezTo>
                        <a:cubicBezTo>
                          <a:pt x="52" y="85"/>
                          <a:pt x="67" y="85"/>
                          <a:pt x="77" y="75"/>
                        </a:cubicBezTo>
                        <a:cubicBezTo>
                          <a:pt x="93" y="59"/>
                          <a:pt x="93" y="59"/>
                          <a:pt x="93" y="59"/>
                        </a:cubicBezTo>
                        <a:cubicBezTo>
                          <a:pt x="34" y="0"/>
                          <a:pt x="34" y="0"/>
                          <a:pt x="34" y="0"/>
                        </a:cubicBezTo>
                        <a:lnTo>
                          <a:pt x="0" y="33"/>
                        </a:lnTo>
                        <a:close/>
                      </a:path>
                    </a:pathLst>
                  </a:custGeom>
                  <a:solidFill>
                    <a:srgbClr val="B8B8B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57" name="Freeform 11"/>
                  <p:cNvSpPr/>
                  <p:nvPr/>
                </p:nvSpPr>
                <p:spPr bwMode="auto">
                  <a:xfrm>
                    <a:off x="4699001" y="2740025"/>
                    <a:ext cx="133350" cy="133350"/>
                  </a:xfrm>
                  <a:custGeom>
                    <a:avLst/>
                    <a:gdLst>
                      <a:gd name="T0" fmla="*/ 0 w 84"/>
                      <a:gd name="T1" fmla="*/ 11 h 84"/>
                      <a:gd name="T2" fmla="*/ 73 w 84"/>
                      <a:gd name="T3" fmla="*/ 84 h 84"/>
                      <a:gd name="T4" fmla="*/ 84 w 84"/>
                      <a:gd name="T5" fmla="*/ 73 h 84"/>
                      <a:gd name="T6" fmla="*/ 11 w 84"/>
                      <a:gd name="T7" fmla="*/ 0 h 84"/>
                      <a:gd name="T8" fmla="*/ 0 w 84"/>
                      <a:gd name="T9" fmla="*/ 11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4" h="84">
                        <a:moveTo>
                          <a:pt x="0" y="11"/>
                        </a:moveTo>
                        <a:lnTo>
                          <a:pt x="73" y="84"/>
                        </a:lnTo>
                        <a:lnTo>
                          <a:pt x="84" y="73"/>
                        </a:lnTo>
                        <a:lnTo>
                          <a:pt x="11" y="0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B8B8B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  <p:sp>
              <p:nvSpPr>
                <p:cNvPr id="50" name="Freeform 12"/>
                <p:cNvSpPr/>
                <p:nvPr/>
              </p:nvSpPr>
              <p:spPr bwMode="auto">
                <a:xfrm>
                  <a:off x="3491329" y="1261482"/>
                  <a:ext cx="2147888" cy="2147888"/>
                </a:xfrm>
                <a:custGeom>
                  <a:avLst/>
                  <a:gdLst>
                    <a:gd name="T0" fmla="*/ 895 w 1089"/>
                    <a:gd name="T1" fmla="*/ 194 h 1089"/>
                    <a:gd name="T2" fmla="*/ 895 w 1089"/>
                    <a:gd name="T3" fmla="*/ 895 h 1089"/>
                    <a:gd name="T4" fmla="*/ 193 w 1089"/>
                    <a:gd name="T5" fmla="*/ 895 h 1089"/>
                    <a:gd name="T6" fmla="*/ 193 w 1089"/>
                    <a:gd name="T7" fmla="*/ 194 h 1089"/>
                    <a:gd name="T8" fmla="*/ 895 w 1089"/>
                    <a:gd name="T9" fmla="*/ 194 h 10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89" h="1089">
                      <a:moveTo>
                        <a:pt x="895" y="194"/>
                      </a:moveTo>
                      <a:cubicBezTo>
                        <a:pt x="1089" y="388"/>
                        <a:pt x="1089" y="702"/>
                        <a:pt x="895" y="895"/>
                      </a:cubicBezTo>
                      <a:cubicBezTo>
                        <a:pt x="701" y="1089"/>
                        <a:pt x="387" y="1089"/>
                        <a:pt x="193" y="895"/>
                      </a:cubicBezTo>
                      <a:cubicBezTo>
                        <a:pt x="0" y="702"/>
                        <a:pt x="0" y="388"/>
                        <a:pt x="193" y="194"/>
                      </a:cubicBezTo>
                      <a:cubicBezTo>
                        <a:pt x="387" y="0"/>
                        <a:pt x="701" y="0"/>
                        <a:pt x="895" y="194"/>
                      </a:cubicBezTo>
                      <a:close/>
                    </a:path>
                  </a:pathLst>
                </a:custGeom>
                <a:solidFill>
                  <a:srgbClr val="1C6299">
                    <a:alpha val="58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sp>
            <p:nvSpPr>
              <p:cNvPr id="48" name="Freeform 14"/>
              <p:cNvSpPr/>
              <p:nvPr/>
            </p:nvSpPr>
            <p:spPr bwMode="auto">
              <a:xfrm rot="900000">
                <a:off x="3761175" y="1308636"/>
                <a:ext cx="1858620" cy="1858618"/>
              </a:xfrm>
              <a:custGeom>
                <a:avLst/>
                <a:gdLst>
                  <a:gd name="T0" fmla="*/ 809 w 984"/>
                  <a:gd name="T1" fmla="*/ 175 h 983"/>
                  <a:gd name="T2" fmla="*/ 809 w 984"/>
                  <a:gd name="T3" fmla="*/ 809 h 983"/>
                  <a:gd name="T4" fmla="*/ 175 w 984"/>
                  <a:gd name="T5" fmla="*/ 809 h 983"/>
                  <a:gd name="T6" fmla="*/ 175 w 984"/>
                  <a:gd name="T7" fmla="*/ 175 h 983"/>
                  <a:gd name="T8" fmla="*/ 809 w 984"/>
                  <a:gd name="T9" fmla="*/ 175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4" h="983">
                    <a:moveTo>
                      <a:pt x="809" y="175"/>
                    </a:moveTo>
                    <a:cubicBezTo>
                      <a:pt x="984" y="350"/>
                      <a:pt x="984" y="634"/>
                      <a:pt x="809" y="809"/>
                    </a:cubicBezTo>
                    <a:cubicBezTo>
                      <a:pt x="634" y="983"/>
                      <a:pt x="350" y="983"/>
                      <a:pt x="175" y="809"/>
                    </a:cubicBezTo>
                    <a:cubicBezTo>
                      <a:pt x="0" y="634"/>
                      <a:pt x="0" y="350"/>
                      <a:pt x="175" y="175"/>
                    </a:cubicBezTo>
                    <a:cubicBezTo>
                      <a:pt x="350" y="0"/>
                      <a:pt x="634" y="0"/>
                      <a:pt x="809" y="1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8" name="Freeform 19"/>
            <p:cNvSpPr>
              <a:spLocks noEditPoints="1"/>
            </p:cNvSpPr>
            <p:nvPr/>
          </p:nvSpPr>
          <p:spPr bwMode="auto">
            <a:xfrm>
              <a:off x="5669074" y="2625700"/>
              <a:ext cx="596300" cy="546970"/>
            </a:xfrm>
            <a:custGeom>
              <a:avLst/>
              <a:gdLst>
                <a:gd name="T0" fmla="*/ 79 w 126"/>
                <a:gd name="T1" fmla="*/ 53 h 115"/>
                <a:gd name="T2" fmla="*/ 83 w 126"/>
                <a:gd name="T3" fmla="*/ 69 h 115"/>
                <a:gd name="T4" fmla="*/ 83 w 126"/>
                <a:gd name="T5" fmla="*/ 77 h 115"/>
                <a:gd name="T6" fmla="*/ 89 w 126"/>
                <a:gd name="T7" fmla="*/ 71 h 115"/>
                <a:gd name="T8" fmla="*/ 83 w 126"/>
                <a:gd name="T9" fmla="*/ 49 h 115"/>
                <a:gd name="T10" fmla="*/ 64 w 126"/>
                <a:gd name="T11" fmla="*/ 46 h 115"/>
                <a:gd name="T12" fmla="*/ 122 w 126"/>
                <a:gd name="T13" fmla="*/ 105 h 115"/>
                <a:gd name="T14" fmla="*/ 118 w 126"/>
                <a:gd name="T15" fmla="*/ 105 h 115"/>
                <a:gd name="T16" fmla="*/ 122 w 126"/>
                <a:gd name="T17" fmla="*/ 29 h 115"/>
                <a:gd name="T18" fmla="*/ 122 w 126"/>
                <a:gd name="T19" fmla="*/ 19 h 115"/>
                <a:gd name="T20" fmla="*/ 76 w 126"/>
                <a:gd name="T21" fmla="*/ 13 h 115"/>
                <a:gd name="T22" fmla="*/ 63 w 126"/>
                <a:gd name="T23" fmla="*/ 0 h 115"/>
                <a:gd name="T24" fmla="*/ 51 w 126"/>
                <a:gd name="T25" fmla="*/ 13 h 115"/>
                <a:gd name="T26" fmla="*/ 5 w 126"/>
                <a:gd name="T27" fmla="*/ 19 h 115"/>
                <a:gd name="T28" fmla="*/ 5 w 126"/>
                <a:gd name="T29" fmla="*/ 29 h 115"/>
                <a:gd name="T30" fmla="*/ 9 w 126"/>
                <a:gd name="T31" fmla="*/ 105 h 115"/>
                <a:gd name="T32" fmla="*/ 0 w 126"/>
                <a:gd name="T33" fmla="*/ 110 h 115"/>
                <a:gd name="T34" fmla="*/ 122 w 126"/>
                <a:gd name="T35" fmla="*/ 115 h 115"/>
                <a:gd name="T36" fmla="*/ 122 w 126"/>
                <a:gd name="T37" fmla="*/ 105 h 115"/>
                <a:gd name="T38" fmla="*/ 58 w 126"/>
                <a:gd name="T39" fmla="*/ 8 h 115"/>
                <a:gd name="T40" fmla="*/ 68 w 126"/>
                <a:gd name="T41" fmla="*/ 8 h 115"/>
                <a:gd name="T42" fmla="*/ 68 w 126"/>
                <a:gd name="T43" fmla="*/ 17 h 115"/>
                <a:gd name="T44" fmla="*/ 63 w 126"/>
                <a:gd name="T45" fmla="*/ 19 h 115"/>
                <a:gd name="T46" fmla="*/ 56 w 126"/>
                <a:gd name="T47" fmla="*/ 13 h 115"/>
                <a:gd name="T48" fmla="*/ 112 w 126"/>
                <a:gd name="T49" fmla="*/ 105 h 115"/>
                <a:gd name="T50" fmla="*/ 14 w 126"/>
                <a:gd name="T51" fmla="*/ 105 h 115"/>
                <a:gd name="T52" fmla="*/ 112 w 126"/>
                <a:gd name="T53" fmla="*/ 29 h 115"/>
                <a:gd name="T54" fmla="*/ 59 w 126"/>
                <a:gd name="T55" fmla="*/ 91 h 115"/>
                <a:gd name="T56" fmla="*/ 71 w 126"/>
                <a:gd name="T57" fmla="*/ 89 h 115"/>
                <a:gd name="T58" fmla="*/ 79 w 126"/>
                <a:gd name="T59" fmla="*/ 80 h 115"/>
                <a:gd name="T60" fmla="*/ 78 w 126"/>
                <a:gd name="T61" fmla="*/ 76 h 115"/>
                <a:gd name="T62" fmla="*/ 62 w 126"/>
                <a:gd name="T63" fmla="*/ 50 h 115"/>
                <a:gd name="T64" fmla="*/ 44 w 126"/>
                <a:gd name="T65" fmla="*/ 53 h 115"/>
                <a:gd name="T66" fmla="*/ 44 w 126"/>
                <a:gd name="T67" fmla="*/ 85 h 115"/>
                <a:gd name="T68" fmla="*/ 48 w 126"/>
                <a:gd name="T69" fmla="*/ 57 h 115"/>
                <a:gd name="T70" fmla="*/ 57 w 126"/>
                <a:gd name="T71" fmla="*/ 53 h 115"/>
                <a:gd name="T72" fmla="*/ 58 w 126"/>
                <a:gd name="T73" fmla="*/ 72 h 115"/>
                <a:gd name="T74" fmla="*/ 68 w 126"/>
                <a:gd name="T75" fmla="*/ 83 h 115"/>
                <a:gd name="T76" fmla="*/ 59 w 126"/>
                <a:gd name="T77" fmla="*/ 86 h 115"/>
                <a:gd name="T78" fmla="*/ 43 w 126"/>
                <a:gd name="T79" fmla="*/ 6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6" h="115">
                  <a:moveTo>
                    <a:pt x="67" y="49"/>
                  </a:moveTo>
                  <a:cubicBezTo>
                    <a:pt x="72" y="49"/>
                    <a:pt x="76" y="50"/>
                    <a:pt x="79" y="53"/>
                  </a:cubicBezTo>
                  <a:cubicBezTo>
                    <a:pt x="82" y="56"/>
                    <a:pt x="84" y="61"/>
                    <a:pt x="84" y="65"/>
                  </a:cubicBezTo>
                  <a:cubicBezTo>
                    <a:pt x="84" y="67"/>
                    <a:pt x="84" y="68"/>
                    <a:pt x="83" y="69"/>
                  </a:cubicBezTo>
                  <a:cubicBezTo>
                    <a:pt x="83" y="71"/>
                    <a:pt x="82" y="72"/>
                    <a:pt x="82" y="73"/>
                  </a:cubicBezTo>
                  <a:cubicBezTo>
                    <a:pt x="81" y="75"/>
                    <a:pt x="81" y="77"/>
                    <a:pt x="83" y="77"/>
                  </a:cubicBezTo>
                  <a:cubicBezTo>
                    <a:pt x="84" y="78"/>
                    <a:pt x="86" y="78"/>
                    <a:pt x="87" y="76"/>
                  </a:cubicBezTo>
                  <a:cubicBezTo>
                    <a:pt x="88" y="75"/>
                    <a:pt x="88" y="73"/>
                    <a:pt x="89" y="71"/>
                  </a:cubicBezTo>
                  <a:cubicBezTo>
                    <a:pt x="89" y="69"/>
                    <a:pt x="90" y="67"/>
                    <a:pt x="90" y="65"/>
                  </a:cubicBezTo>
                  <a:cubicBezTo>
                    <a:pt x="90" y="59"/>
                    <a:pt x="87" y="53"/>
                    <a:pt x="83" y="49"/>
                  </a:cubicBezTo>
                  <a:cubicBezTo>
                    <a:pt x="79" y="45"/>
                    <a:pt x="73" y="43"/>
                    <a:pt x="67" y="43"/>
                  </a:cubicBezTo>
                  <a:cubicBezTo>
                    <a:pt x="66" y="43"/>
                    <a:pt x="64" y="44"/>
                    <a:pt x="64" y="46"/>
                  </a:cubicBezTo>
                  <a:cubicBezTo>
                    <a:pt x="64" y="47"/>
                    <a:pt x="66" y="49"/>
                    <a:pt x="67" y="49"/>
                  </a:cubicBezTo>
                  <a:close/>
                  <a:moveTo>
                    <a:pt x="122" y="105"/>
                  </a:moveTo>
                  <a:cubicBezTo>
                    <a:pt x="122" y="105"/>
                    <a:pt x="122" y="105"/>
                    <a:pt x="122" y="105"/>
                  </a:cubicBezTo>
                  <a:cubicBezTo>
                    <a:pt x="118" y="105"/>
                    <a:pt x="118" y="105"/>
                    <a:pt x="118" y="105"/>
                  </a:cubicBezTo>
                  <a:cubicBezTo>
                    <a:pt x="118" y="29"/>
                    <a:pt x="118" y="29"/>
                    <a:pt x="118" y="29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4" y="29"/>
                    <a:pt x="126" y="27"/>
                    <a:pt x="126" y="24"/>
                  </a:cubicBezTo>
                  <a:cubicBezTo>
                    <a:pt x="126" y="22"/>
                    <a:pt x="124" y="19"/>
                    <a:pt x="122" y="19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75" y="17"/>
                    <a:pt x="76" y="15"/>
                    <a:pt x="76" y="13"/>
                  </a:cubicBezTo>
                  <a:cubicBezTo>
                    <a:pt x="76" y="9"/>
                    <a:pt x="75" y="6"/>
                    <a:pt x="72" y="4"/>
                  </a:cubicBezTo>
                  <a:cubicBezTo>
                    <a:pt x="70" y="1"/>
                    <a:pt x="67" y="0"/>
                    <a:pt x="63" y="0"/>
                  </a:cubicBezTo>
                  <a:cubicBezTo>
                    <a:pt x="60" y="0"/>
                    <a:pt x="57" y="1"/>
                    <a:pt x="54" y="4"/>
                  </a:cubicBezTo>
                  <a:cubicBezTo>
                    <a:pt x="52" y="6"/>
                    <a:pt x="51" y="9"/>
                    <a:pt x="51" y="13"/>
                  </a:cubicBezTo>
                  <a:cubicBezTo>
                    <a:pt x="51" y="15"/>
                    <a:pt x="51" y="17"/>
                    <a:pt x="53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2" y="19"/>
                    <a:pt x="0" y="22"/>
                    <a:pt x="0" y="24"/>
                  </a:cubicBezTo>
                  <a:cubicBezTo>
                    <a:pt x="0" y="27"/>
                    <a:pt x="2" y="29"/>
                    <a:pt x="5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2" y="105"/>
                    <a:pt x="0" y="107"/>
                    <a:pt x="0" y="110"/>
                  </a:cubicBezTo>
                  <a:cubicBezTo>
                    <a:pt x="0" y="113"/>
                    <a:pt x="2" y="115"/>
                    <a:pt x="5" y="115"/>
                  </a:cubicBezTo>
                  <a:cubicBezTo>
                    <a:pt x="122" y="115"/>
                    <a:pt x="122" y="115"/>
                    <a:pt x="122" y="115"/>
                  </a:cubicBezTo>
                  <a:cubicBezTo>
                    <a:pt x="124" y="115"/>
                    <a:pt x="126" y="113"/>
                    <a:pt x="126" y="110"/>
                  </a:cubicBezTo>
                  <a:cubicBezTo>
                    <a:pt x="126" y="107"/>
                    <a:pt x="124" y="105"/>
                    <a:pt x="122" y="105"/>
                  </a:cubicBezTo>
                  <a:close/>
                  <a:moveTo>
                    <a:pt x="58" y="8"/>
                  </a:moveTo>
                  <a:cubicBezTo>
                    <a:pt x="58" y="8"/>
                    <a:pt x="58" y="8"/>
                    <a:pt x="58" y="8"/>
                  </a:cubicBezTo>
                  <a:cubicBezTo>
                    <a:pt x="60" y="6"/>
                    <a:pt x="61" y="6"/>
                    <a:pt x="63" y="6"/>
                  </a:cubicBezTo>
                  <a:cubicBezTo>
                    <a:pt x="65" y="6"/>
                    <a:pt x="67" y="6"/>
                    <a:pt x="68" y="8"/>
                  </a:cubicBezTo>
                  <a:cubicBezTo>
                    <a:pt x="69" y="9"/>
                    <a:pt x="70" y="11"/>
                    <a:pt x="70" y="13"/>
                  </a:cubicBezTo>
                  <a:cubicBezTo>
                    <a:pt x="70" y="14"/>
                    <a:pt x="69" y="16"/>
                    <a:pt x="68" y="17"/>
                  </a:cubicBezTo>
                  <a:cubicBezTo>
                    <a:pt x="67" y="19"/>
                    <a:pt x="65" y="19"/>
                    <a:pt x="63" y="19"/>
                  </a:cubicBezTo>
                  <a:cubicBezTo>
                    <a:pt x="63" y="19"/>
                    <a:pt x="63" y="19"/>
                    <a:pt x="63" y="19"/>
                  </a:cubicBezTo>
                  <a:cubicBezTo>
                    <a:pt x="61" y="19"/>
                    <a:pt x="60" y="19"/>
                    <a:pt x="58" y="17"/>
                  </a:cubicBezTo>
                  <a:cubicBezTo>
                    <a:pt x="57" y="16"/>
                    <a:pt x="56" y="14"/>
                    <a:pt x="56" y="13"/>
                  </a:cubicBezTo>
                  <a:cubicBezTo>
                    <a:pt x="56" y="11"/>
                    <a:pt x="57" y="9"/>
                    <a:pt x="58" y="8"/>
                  </a:cubicBezTo>
                  <a:close/>
                  <a:moveTo>
                    <a:pt x="112" y="105"/>
                  </a:moveTo>
                  <a:cubicBezTo>
                    <a:pt x="112" y="105"/>
                    <a:pt x="112" y="105"/>
                    <a:pt x="112" y="105"/>
                  </a:cubicBezTo>
                  <a:cubicBezTo>
                    <a:pt x="14" y="105"/>
                    <a:pt x="14" y="105"/>
                    <a:pt x="14" y="10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105"/>
                    <a:pt x="112" y="105"/>
                    <a:pt x="112" y="105"/>
                  </a:cubicBezTo>
                  <a:close/>
                  <a:moveTo>
                    <a:pt x="59" y="91"/>
                  </a:moveTo>
                  <a:cubicBezTo>
                    <a:pt x="59" y="91"/>
                    <a:pt x="59" y="91"/>
                    <a:pt x="59" y="91"/>
                  </a:cubicBezTo>
                  <a:cubicBezTo>
                    <a:pt x="63" y="91"/>
                    <a:pt x="67" y="90"/>
                    <a:pt x="71" y="89"/>
                  </a:cubicBezTo>
                  <a:cubicBezTo>
                    <a:pt x="71" y="88"/>
                    <a:pt x="71" y="88"/>
                    <a:pt x="71" y="88"/>
                  </a:cubicBezTo>
                  <a:cubicBezTo>
                    <a:pt x="74" y="87"/>
                    <a:pt x="77" y="84"/>
                    <a:pt x="79" y="80"/>
                  </a:cubicBezTo>
                  <a:cubicBezTo>
                    <a:pt x="79" y="80"/>
                    <a:pt x="79" y="80"/>
                    <a:pt x="79" y="80"/>
                  </a:cubicBezTo>
                  <a:cubicBezTo>
                    <a:pt x="80" y="79"/>
                    <a:pt x="79" y="77"/>
                    <a:pt x="78" y="76"/>
                  </a:cubicBezTo>
                  <a:cubicBezTo>
                    <a:pt x="62" y="67"/>
                    <a:pt x="62" y="67"/>
                    <a:pt x="62" y="67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2" y="48"/>
                    <a:pt x="61" y="47"/>
                    <a:pt x="59" y="47"/>
                  </a:cubicBezTo>
                  <a:cubicBezTo>
                    <a:pt x="53" y="47"/>
                    <a:pt x="48" y="49"/>
                    <a:pt x="44" y="53"/>
                  </a:cubicBezTo>
                  <a:cubicBezTo>
                    <a:pt x="40" y="57"/>
                    <a:pt x="37" y="63"/>
                    <a:pt x="37" y="69"/>
                  </a:cubicBezTo>
                  <a:cubicBezTo>
                    <a:pt x="37" y="75"/>
                    <a:pt x="40" y="81"/>
                    <a:pt x="44" y="85"/>
                  </a:cubicBezTo>
                  <a:cubicBezTo>
                    <a:pt x="48" y="89"/>
                    <a:pt x="53" y="91"/>
                    <a:pt x="59" y="91"/>
                  </a:cubicBezTo>
                  <a:close/>
                  <a:moveTo>
                    <a:pt x="48" y="57"/>
                  </a:moveTo>
                  <a:cubicBezTo>
                    <a:pt x="48" y="57"/>
                    <a:pt x="48" y="57"/>
                    <a:pt x="48" y="57"/>
                  </a:cubicBezTo>
                  <a:cubicBezTo>
                    <a:pt x="50" y="55"/>
                    <a:pt x="53" y="53"/>
                    <a:pt x="57" y="53"/>
                  </a:cubicBezTo>
                  <a:cubicBezTo>
                    <a:pt x="57" y="69"/>
                    <a:pt x="57" y="69"/>
                    <a:pt x="57" y="69"/>
                  </a:cubicBezTo>
                  <a:cubicBezTo>
                    <a:pt x="57" y="70"/>
                    <a:pt x="57" y="71"/>
                    <a:pt x="58" y="72"/>
                  </a:cubicBezTo>
                  <a:cubicBezTo>
                    <a:pt x="72" y="80"/>
                    <a:pt x="72" y="80"/>
                    <a:pt x="72" y="80"/>
                  </a:cubicBezTo>
                  <a:cubicBezTo>
                    <a:pt x="71" y="81"/>
                    <a:pt x="69" y="82"/>
                    <a:pt x="68" y="83"/>
                  </a:cubicBezTo>
                  <a:cubicBezTo>
                    <a:pt x="68" y="84"/>
                    <a:pt x="68" y="84"/>
                    <a:pt x="68" y="84"/>
                  </a:cubicBezTo>
                  <a:cubicBezTo>
                    <a:pt x="65" y="85"/>
                    <a:pt x="62" y="86"/>
                    <a:pt x="59" y="86"/>
                  </a:cubicBezTo>
                  <a:cubicBezTo>
                    <a:pt x="55" y="86"/>
                    <a:pt x="51" y="84"/>
                    <a:pt x="48" y="81"/>
                  </a:cubicBezTo>
                  <a:cubicBezTo>
                    <a:pt x="45" y="78"/>
                    <a:pt x="43" y="74"/>
                    <a:pt x="43" y="69"/>
                  </a:cubicBezTo>
                  <a:cubicBezTo>
                    <a:pt x="43" y="64"/>
                    <a:pt x="45" y="60"/>
                    <a:pt x="48" y="57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9" name="Rectangle 24"/>
            <p:cNvSpPr>
              <a:spLocks noChangeArrowheads="1"/>
            </p:cNvSpPr>
            <p:nvPr/>
          </p:nvSpPr>
          <p:spPr bwMode="auto">
            <a:xfrm>
              <a:off x="4994742" y="3277291"/>
              <a:ext cx="1963157" cy="628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Technical Difficulties and Solutions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0" name="Rectangle 24"/>
          <p:cNvSpPr>
            <a:spLocks noChangeArrowheads="1"/>
          </p:cNvSpPr>
          <p:nvPr/>
        </p:nvSpPr>
        <p:spPr bwMode="auto">
          <a:xfrm>
            <a:off x="732155" y="1051560"/>
            <a:ext cx="3370580" cy="1884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跨域资源共享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(CORS)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问题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在前后端联调初期，前端调用后端接口时频繁出现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CORS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错误，导致请求被浏览器拦截。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原因分析：浏览器的同源策略限制了不同源（协议、域名或端口不同）之间的资源交互。前端运行在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localhost:5173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，而后端运行在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localhost:8081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，属于跨域请求。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解决方案：在开发环境中，通过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Vite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‘server.proxy‘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配置反向代理，将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‘/api‘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开头的请求转发到后端服务器，从而绕过浏览器的同源策略限制。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Rectangle 24"/>
          <p:cNvSpPr>
            <a:spLocks noChangeArrowheads="1"/>
          </p:cNvSpPr>
          <p:nvPr/>
        </p:nvSpPr>
        <p:spPr bwMode="auto">
          <a:xfrm>
            <a:off x="29210" y="3942080"/>
            <a:ext cx="4454525" cy="235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MyBatis-Plus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的分页失效问题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在开发初期，发现调用分页接口时，返回的数据总是全部数据，分页参数未生效。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原因分析：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MyBatis-Plus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的分页功能需要配置拦截器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PaginationInnerInterceptor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如果未在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Spring Boot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配置类中注册该拦截器，分页功能将不会执行。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解决方案：创建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MybatisPlusConfig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配置类，添加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MybatisPlusInterceptor Bean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，并加入分页拦截器。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Rectangle 24"/>
          <p:cNvSpPr>
            <a:spLocks noChangeArrowheads="1"/>
          </p:cNvSpPr>
          <p:nvPr/>
        </p:nvSpPr>
        <p:spPr bwMode="auto">
          <a:xfrm>
            <a:off x="8034655" y="1242060"/>
            <a:ext cx="3706495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事务控制失效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在同一个类中，一个非事务方法调用同类中的事务方法（带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@Transactional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注解），导致事务失效。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原因分析：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Spring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的事务基于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AOP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代理实现。同类方法调用时，直接调用的是目标对象的方法，而非代理对象的方法，因此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AOP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切面无法拦截。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解决方案：将事务方法抽取到独立的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Service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类中，或者在调用时通过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AopCon-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text.currentProxy()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获取代理对象进行调用。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05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spc="10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技术难点与解决方案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528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52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52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4" grpId="0">
        <p:bldAsOne/>
      </p:bldGraphic>
      <p:bldP spid="60" grpId="0"/>
      <p:bldP spid="31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58171" y="2105561"/>
            <a:ext cx="2531110" cy="2646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98052">
                      <a:schemeClr val="bg1"/>
                    </a:gs>
                    <a:gs pos="0">
                      <a:srgbClr val="1C6299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06</a:t>
            </a:r>
            <a:endParaRPr kumimoji="0" lang="zh-CN" altLang="en-US" sz="16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98052">
                    <a:schemeClr val="bg1"/>
                  </a:gs>
                  <a:gs pos="0">
                    <a:srgbClr val="1C6299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140960" y="2143125"/>
            <a:ext cx="7132955" cy="1035685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10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测试结果</a:t>
            </a:r>
            <a:endParaRPr kumimoji="0" lang="zh-CN" altLang="en-US" sz="4000" b="1" i="0" u="none" strike="noStrike" kern="1200" cap="none" spc="10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" name="文本占位符 2"/>
          <p:cNvSpPr txBox="1"/>
          <p:nvPr/>
        </p:nvSpPr>
        <p:spPr>
          <a:xfrm>
            <a:off x="5560176" y="3787775"/>
            <a:ext cx="6792912" cy="92710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 spc="1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Test Results</a:t>
            </a: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619693" y="2143125"/>
            <a:ext cx="0" cy="257175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Dot"/>
            <a:miter lim="800000"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5560176" y="3432579"/>
            <a:ext cx="720000" cy="1016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272905" y="624205"/>
            <a:ext cx="6402070" cy="59194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94090" y="140004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55288" y="140004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139868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94090" y="140004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137792" y="140004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24" name="图片 23" descr="01b3dd32f90cea83ad83527804c6b4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7000" y="8863965"/>
            <a:ext cx="6685280" cy="3709035"/>
          </a:xfrm>
          <a:prstGeom prst="rect">
            <a:avLst/>
          </a:prstGeom>
        </p:spPr>
      </p:pic>
      <p:grpSp>
        <p:nvGrpSpPr>
          <p:cNvPr id="25" name="组合 24"/>
          <p:cNvGrpSpPr/>
          <p:nvPr>
            <p:custDataLst>
              <p:tags r:id="rId5"/>
            </p:custDataLst>
          </p:nvPr>
        </p:nvGrpSpPr>
        <p:grpSpPr>
          <a:xfrm>
            <a:off x="6725954" y="9085669"/>
            <a:ext cx="2727158" cy="964436"/>
            <a:chOff x="5169569" y="2173059"/>
            <a:chExt cx="2727158" cy="964436"/>
          </a:xfrm>
        </p:grpSpPr>
        <p:grpSp>
          <p:nvGrpSpPr>
            <p:cNvPr id="26" name="组合 25"/>
            <p:cNvGrpSpPr/>
            <p:nvPr/>
          </p:nvGrpSpPr>
          <p:grpSpPr>
            <a:xfrm>
              <a:off x="5679924" y="2173059"/>
              <a:ext cx="2216803" cy="964436"/>
              <a:chOff x="4749482" y="1210533"/>
              <a:chExt cx="2216803" cy="964436"/>
            </a:xfrm>
          </p:grpSpPr>
          <p:sp>
            <p:nvSpPr>
              <p:cNvPr id="27" name="Rectangle 24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4749482" y="1210533"/>
                <a:ext cx="1896396" cy="3683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C629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功能测试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4825683" y="1567274"/>
                <a:ext cx="2140602" cy="6076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覆盖了注册登录、图书增删改查、借阅归还全流程，</a:t>
                </a: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410</a:t>
                </a: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次测试通过率</a:t>
                </a: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100%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椭圆 28"/>
            <p:cNvSpPr/>
            <p:nvPr>
              <p:custDataLst>
                <p:tags r:id="rId8"/>
              </p:custDataLst>
            </p:nvPr>
          </p:nvSpPr>
          <p:spPr>
            <a:xfrm>
              <a:off x="5169569" y="2378480"/>
              <a:ext cx="467996" cy="467996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6F3A97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9"/>
            </p:custDataLst>
          </p:nvPr>
        </p:nvGrpSpPr>
        <p:grpSpPr>
          <a:xfrm>
            <a:off x="6725954" y="10412184"/>
            <a:ext cx="2727158" cy="794891"/>
            <a:chOff x="5169569" y="2173059"/>
            <a:chExt cx="2727158" cy="794891"/>
          </a:xfrm>
        </p:grpSpPr>
        <p:grpSp>
          <p:nvGrpSpPr>
            <p:cNvPr id="31" name="组合 30"/>
            <p:cNvGrpSpPr/>
            <p:nvPr/>
          </p:nvGrpSpPr>
          <p:grpSpPr>
            <a:xfrm>
              <a:off x="5679924" y="2173059"/>
              <a:ext cx="2216803" cy="794891"/>
              <a:chOff x="4749482" y="1210533"/>
              <a:chExt cx="2216803" cy="794891"/>
            </a:xfrm>
          </p:grpSpPr>
          <p:sp>
            <p:nvSpPr>
              <p:cNvPr id="32" name="Rectangle 24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4749482" y="1210533"/>
                <a:ext cx="1896396" cy="3683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C629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性能测试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3" name="Rectangle 24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4825683" y="1567274"/>
                <a:ext cx="2140602" cy="438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10</a:t>
                </a: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轮接口测试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接口平均响应时间为</a:t>
                </a: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 3 ms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4" name="椭圆 33"/>
            <p:cNvSpPr/>
            <p:nvPr>
              <p:custDataLst>
                <p:tags r:id="rId12"/>
              </p:custDataLst>
            </p:nvPr>
          </p:nvSpPr>
          <p:spPr>
            <a:xfrm>
              <a:off x="5169569" y="2378480"/>
              <a:ext cx="467996" cy="467996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6F3A97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13"/>
            </p:custDataLst>
          </p:nvPr>
        </p:nvGrpSpPr>
        <p:grpSpPr>
          <a:xfrm>
            <a:off x="6725954" y="11624399"/>
            <a:ext cx="2727158" cy="761871"/>
            <a:chOff x="5169569" y="2173059"/>
            <a:chExt cx="2727158" cy="761871"/>
          </a:xfrm>
        </p:grpSpPr>
        <p:grpSp>
          <p:nvGrpSpPr>
            <p:cNvPr id="36" name="组合 35"/>
            <p:cNvGrpSpPr/>
            <p:nvPr/>
          </p:nvGrpSpPr>
          <p:grpSpPr>
            <a:xfrm>
              <a:off x="5679924" y="2173059"/>
              <a:ext cx="2216803" cy="761871"/>
              <a:chOff x="4749482" y="1210533"/>
              <a:chExt cx="2216803" cy="761871"/>
            </a:xfrm>
          </p:grpSpPr>
          <p:sp>
            <p:nvSpPr>
              <p:cNvPr id="37" name="Rectangle 24"/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4749482" y="1210533"/>
                <a:ext cx="1896396" cy="3683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C629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稳定测试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8" name="Rectangle 24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825683" y="1567274"/>
                <a:ext cx="2140602" cy="405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支持多用户并发访问，系统运行稳定。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9" name="椭圆 38"/>
            <p:cNvSpPr/>
            <p:nvPr>
              <p:custDataLst>
                <p:tags r:id="rId16"/>
              </p:custDataLst>
            </p:nvPr>
          </p:nvSpPr>
          <p:spPr>
            <a:xfrm>
              <a:off x="5169569" y="2378480"/>
              <a:ext cx="467996" cy="467996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6F3A97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4" name="图片 3" descr="01b3dd32f90cea83ad83527804c6b4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4165"/>
            <a:ext cx="6685280" cy="3709035"/>
          </a:xfrm>
          <a:prstGeom prst="rect">
            <a:avLst/>
          </a:prstGeom>
        </p:spPr>
      </p:pic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6852954" y="1795869"/>
            <a:ext cx="2727158" cy="964436"/>
            <a:chOff x="5169569" y="2173059"/>
            <a:chExt cx="2727158" cy="964436"/>
          </a:xfrm>
        </p:grpSpPr>
        <p:grpSp>
          <p:nvGrpSpPr>
            <p:cNvPr id="10" name="组合 9"/>
            <p:cNvGrpSpPr/>
            <p:nvPr/>
          </p:nvGrpSpPr>
          <p:grpSpPr>
            <a:xfrm>
              <a:off x="5679924" y="2173059"/>
              <a:ext cx="2216803" cy="964436"/>
              <a:chOff x="4749482" y="1210533"/>
              <a:chExt cx="2216803" cy="964436"/>
            </a:xfrm>
          </p:grpSpPr>
          <p:sp>
            <p:nvSpPr>
              <p:cNvPr id="11" name="Rectangle 24"/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4749482" y="1210533"/>
                <a:ext cx="1896396" cy="3683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C629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功能测试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" name="Rectangle 24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4825683" y="1567274"/>
                <a:ext cx="2140602" cy="6076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覆盖了注册登录、图书增删改查、借阅归还全流程，</a:t>
                </a: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410</a:t>
                </a: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次测试通过率</a:t>
                </a: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100%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3" name="椭圆 12"/>
            <p:cNvSpPr/>
            <p:nvPr>
              <p:custDataLst>
                <p:tags r:id="rId6"/>
              </p:custDataLst>
            </p:nvPr>
          </p:nvSpPr>
          <p:spPr>
            <a:xfrm>
              <a:off x="5169569" y="2378480"/>
              <a:ext cx="467996" cy="467996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6F3A97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7"/>
            </p:custDataLst>
          </p:nvPr>
        </p:nvGrpSpPr>
        <p:grpSpPr>
          <a:xfrm>
            <a:off x="6852954" y="3122384"/>
            <a:ext cx="2727158" cy="794891"/>
            <a:chOff x="5169569" y="2173059"/>
            <a:chExt cx="2727158" cy="794891"/>
          </a:xfrm>
        </p:grpSpPr>
        <p:grpSp>
          <p:nvGrpSpPr>
            <p:cNvPr id="19" name="组合 18"/>
            <p:cNvGrpSpPr/>
            <p:nvPr/>
          </p:nvGrpSpPr>
          <p:grpSpPr>
            <a:xfrm>
              <a:off x="5679924" y="2173059"/>
              <a:ext cx="2216803" cy="794891"/>
              <a:chOff x="4749482" y="1210533"/>
              <a:chExt cx="2216803" cy="794891"/>
            </a:xfrm>
          </p:grpSpPr>
          <p:sp>
            <p:nvSpPr>
              <p:cNvPr id="23" name="Rectangle 24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4749482" y="1210533"/>
                <a:ext cx="1896396" cy="3683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C629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性能测试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Rectangle 24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825683" y="1567274"/>
                <a:ext cx="2140602" cy="438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10</a:t>
                </a: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轮接口测试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接口平均响应时间为</a:t>
                </a: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 3 ms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5" name="椭圆 24"/>
            <p:cNvSpPr/>
            <p:nvPr>
              <p:custDataLst>
                <p:tags r:id="rId10"/>
              </p:custDataLst>
            </p:nvPr>
          </p:nvSpPr>
          <p:spPr>
            <a:xfrm>
              <a:off x="5169569" y="2378480"/>
              <a:ext cx="467996" cy="467996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6F3A97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11"/>
            </p:custDataLst>
          </p:nvPr>
        </p:nvGrpSpPr>
        <p:grpSpPr>
          <a:xfrm>
            <a:off x="6852954" y="4334599"/>
            <a:ext cx="2727158" cy="761871"/>
            <a:chOff x="5169569" y="2173059"/>
            <a:chExt cx="2727158" cy="761871"/>
          </a:xfrm>
        </p:grpSpPr>
        <p:grpSp>
          <p:nvGrpSpPr>
            <p:cNvPr id="28" name="组合 27"/>
            <p:cNvGrpSpPr/>
            <p:nvPr/>
          </p:nvGrpSpPr>
          <p:grpSpPr>
            <a:xfrm>
              <a:off x="5679924" y="2173059"/>
              <a:ext cx="2216803" cy="761871"/>
              <a:chOff x="4749482" y="1210533"/>
              <a:chExt cx="2216803" cy="761871"/>
            </a:xfrm>
          </p:grpSpPr>
          <p:sp>
            <p:nvSpPr>
              <p:cNvPr id="29" name="Rectangle 24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4749482" y="1210533"/>
                <a:ext cx="1896396" cy="3683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C629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稳定测试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C62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Rectangle 24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4825683" y="1567274"/>
                <a:ext cx="2140602" cy="405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1218565" rtl="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支持多用户并发访问，系统运行稳定。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1" name="椭圆 30"/>
            <p:cNvSpPr/>
            <p:nvPr>
              <p:custDataLst>
                <p:tags r:id="rId14"/>
              </p:custDataLst>
            </p:nvPr>
          </p:nvSpPr>
          <p:spPr>
            <a:xfrm>
              <a:off x="5169569" y="2378480"/>
              <a:ext cx="467996" cy="467996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6F3A97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>
          <a:blip r:embed="rId15">
            <a:alphaModFix amt="38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272905" y="624205"/>
            <a:ext cx="6402070" cy="591947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676005" y="-1092231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737203" y="-1092231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513086" y="-5697319"/>
            <a:ext cx="2531110" cy="2646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98052">
                      <a:schemeClr val="bg1"/>
                    </a:gs>
                    <a:gs pos="0">
                      <a:srgbClr val="1C6299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06</a:t>
            </a:r>
            <a:endParaRPr kumimoji="0" lang="zh-CN" altLang="en-US" sz="16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98052">
                    <a:schemeClr val="bg1"/>
                  </a:gs>
                  <a:gs pos="0">
                    <a:srgbClr val="1C6299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标题 1"/>
          <p:cNvSpPr txBox="1"/>
          <p:nvPr/>
        </p:nvSpPr>
        <p:spPr>
          <a:xfrm>
            <a:off x="5095875" y="-5659755"/>
            <a:ext cx="7132955" cy="1035685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10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测试结果</a:t>
            </a:r>
            <a:endParaRPr kumimoji="0" lang="zh-CN" altLang="en-US" sz="4000" b="1" i="0" u="none" strike="noStrike" kern="1200" cap="none" spc="10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0" name="文本占位符 2"/>
          <p:cNvSpPr txBox="1"/>
          <p:nvPr/>
        </p:nvSpPr>
        <p:spPr>
          <a:xfrm>
            <a:off x="5515091" y="-4015105"/>
            <a:ext cx="6792912" cy="92710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 spc="1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Test Results</a:t>
            </a: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4574608" y="-5659755"/>
            <a:ext cx="0" cy="257175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Dot"/>
            <a:miter lim="800000"/>
          </a:ln>
          <a:effectLst/>
        </p:spPr>
      </p:cxnSp>
      <p:sp>
        <p:nvSpPr>
          <p:cNvPr id="42" name="矩形 41"/>
          <p:cNvSpPr/>
          <p:nvPr/>
        </p:nvSpPr>
        <p:spPr>
          <a:xfrm>
            <a:off x="5515091" y="-4370301"/>
            <a:ext cx="720000" cy="1016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任意多边形: 形状 16"/>
          <p:cNvSpPr/>
          <p:nvPr/>
        </p:nvSpPr>
        <p:spPr>
          <a:xfrm flipH="1">
            <a:off x="81915" y="-767588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752" y="-7539205"/>
            <a:ext cx="1663415" cy="487234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676005" y="-1092231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219707" y="-1092231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  <p:bldP spid="40" grpId="0"/>
      <p:bldP spid="42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58171" y="2105561"/>
            <a:ext cx="2214880" cy="2646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98052">
                      <a:schemeClr val="bg1"/>
                    </a:gs>
                    <a:gs pos="0">
                      <a:srgbClr val="1C6299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07</a:t>
            </a:r>
            <a:endParaRPr kumimoji="0" lang="zh-CN" altLang="en-US" sz="16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98052">
                    <a:schemeClr val="bg1"/>
                  </a:gs>
                  <a:gs pos="0">
                    <a:srgbClr val="1C6299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140960" y="2143125"/>
            <a:ext cx="7132955" cy="1035685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10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项目总结与展望</a:t>
            </a:r>
            <a:endParaRPr kumimoji="0" lang="zh-CN" altLang="en-US" sz="4000" b="1" i="0" u="none" strike="noStrike" kern="1200" cap="none" spc="10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" name="文本占位符 2"/>
          <p:cNvSpPr txBox="1"/>
          <p:nvPr/>
        </p:nvSpPr>
        <p:spPr>
          <a:xfrm>
            <a:off x="5560176" y="3787775"/>
            <a:ext cx="6792912" cy="92710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 spc="1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Project Summary and Outlook</a:t>
            </a: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619693" y="2143125"/>
            <a:ext cx="0" cy="257175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Dot"/>
            <a:miter lim="800000"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5560176" y="3432579"/>
            <a:ext cx="720000" cy="1016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0" y="0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37" y="136675"/>
            <a:ext cx="1663415" cy="48723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272905" y="624205"/>
            <a:ext cx="6402070" cy="5919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iś1iḍé"/>
          <p:cNvSpPr/>
          <p:nvPr/>
        </p:nvSpPr>
        <p:spPr>
          <a:xfrm>
            <a:off x="3873680" y="1530531"/>
            <a:ext cx="4444639" cy="4444638"/>
          </a:xfrm>
          <a:prstGeom prst="ellipse">
            <a:avLst/>
          </a:prstGeom>
          <a:gradFill>
            <a:gsLst>
              <a:gs pos="100000">
                <a:schemeClr val="bg1">
                  <a:lumMod val="75000"/>
                  <a:alpha val="8000"/>
                </a:schemeClr>
              </a:gs>
              <a:gs pos="0">
                <a:schemeClr val="bg1">
                  <a:lumMod val="75000"/>
                  <a:alpha val="8000"/>
                </a:schemeClr>
              </a:gs>
              <a:gs pos="50000">
                <a:schemeClr val="bg1">
                  <a:lumMod val="75000"/>
                  <a:alpha val="0"/>
                </a:schemeClr>
              </a:gs>
            </a:gsLst>
            <a:lin ang="0" scaled="1"/>
          </a:gradFill>
          <a:ln w="6350">
            <a:gradFill flip="none" rotWithShape="1">
              <a:gsLst>
                <a:gs pos="75000">
                  <a:schemeClr val="bg1">
                    <a:lumMod val="75000"/>
                    <a:alpha val="0"/>
                  </a:schemeClr>
                </a:gs>
                <a:gs pos="20000">
                  <a:schemeClr val="bg1">
                    <a:lumMod val="65000"/>
                    <a:alpha val="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705488" y="2274044"/>
            <a:ext cx="597264" cy="597262"/>
            <a:chOff x="7705488" y="2274044"/>
            <a:chExt cx="597264" cy="597262"/>
          </a:xfrm>
          <a:solidFill>
            <a:srgbClr val="1C6299"/>
          </a:solidFill>
        </p:grpSpPr>
        <p:sp>
          <p:nvSpPr>
            <p:cNvPr id="28" name="íşlîḓé"/>
            <p:cNvSpPr/>
            <p:nvPr/>
          </p:nvSpPr>
          <p:spPr>
            <a:xfrm>
              <a:off x="7705488" y="2274044"/>
              <a:ext cx="597264" cy="597262"/>
            </a:xfrm>
            <a:prstGeom prst="ellipse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6130" y="2376003"/>
              <a:ext cx="396000" cy="396000"/>
            </a:xfrm>
            <a:prstGeom prst="rect">
              <a:avLst/>
            </a:prstGeom>
            <a:grpFill/>
          </p:spPr>
        </p:pic>
      </p:grpSp>
      <p:grpSp>
        <p:nvGrpSpPr>
          <p:cNvPr id="8" name="组合 7"/>
          <p:cNvGrpSpPr/>
          <p:nvPr/>
        </p:nvGrpSpPr>
        <p:grpSpPr>
          <a:xfrm>
            <a:off x="7982434" y="3422045"/>
            <a:ext cx="597264" cy="597262"/>
            <a:chOff x="7982434" y="3422045"/>
            <a:chExt cx="597264" cy="597262"/>
          </a:xfrm>
          <a:solidFill>
            <a:srgbClr val="1C6299"/>
          </a:solidFill>
        </p:grpSpPr>
        <p:sp>
          <p:nvSpPr>
            <p:cNvPr id="29" name="ïsḻíḍe"/>
            <p:cNvSpPr/>
            <p:nvPr/>
          </p:nvSpPr>
          <p:spPr>
            <a:xfrm>
              <a:off x="7982434" y="3422045"/>
              <a:ext cx="597264" cy="597262"/>
            </a:xfrm>
            <a:prstGeom prst="ellipse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53" name="图片 52"/>
            <p:cNvPicPr preferRelativeResize="0"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0895" y="3583945"/>
              <a:ext cx="426316" cy="324000"/>
            </a:xfrm>
            <a:prstGeom prst="rect">
              <a:avLst/>
            </a:prstGeom>
            <a:grpFill/>
          </p:spPr>
        </p:pic>
      </p:grpSp>
      <p:grpSp>
        <p:nvGrpSpPr>
          <p:cNvPr id="5" name="组合 4"/>
          <p:cNvGrpSpPr/>
          <p:nvPr/>
        </p:nvGrpSpPr>
        <p:grpSpPr>
          <a:xfrm>
            <a:off x="3609127" y="3422045"/>
            <a:ext cx="597264" cy="597262"/>
            <a:chOff x="3609127" y="3422045"/>
            <a:chExt cx="597264" cy="597262"/>
          </a:xfrm>
          <a:solidFill>
            <a:srgbClr val="1C6299"/>
          </a:solidFill>
        </p:grpSpPr>
        <p:sp>
          <p:nvSpPr>
            <p:cNvPr id="24" name="iṧlïḍe"/>
            <p:cNvSpPr/>
            <p:nvPr/>
          </p:nvSpPr>
          <p:spPr>
            <a:xfrm>
              <a:off x="3609127" y="3422045"/>
              <a:ext cx="597264" cy="597262"/>
            </a:xfrm>
            <a:prstGeom prst="ellipse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1669" y="3559028"/>
              <a:ext cx="324000" cy="324000"/>
            </a:xfrm>
            <a:prstGeom prst="rect">
              <a:avLst/>
            </a:prstGeom>
            <a:grpFill/>
          </p:spPr>
        </p:pic>
      </p:grpSp>
      <p:grpSp>
        <p:nvGrpSpPr>
          <p:cNvPr id="3" name="组合 2"/>
          <p:cNvGrpSpPr/>
          <p:nvPr/>
        </p:nvGrpSpPr>
        <p:grpSpPr>
          <a:xfrm>
            <a:off x="3886073" y="2274044"/>
            <a:ext cx="597264" cy="597262"/>
            <a:chOff x="3886073" y="2274044"/>
            <a:chExt cx="597264" cy="597262"/>
          </a:xfrm>
          <a:solidFill>
            <a:srgbClr val="1C6299"/>
          </a:solidFill>
        </p:grpSpPr>
        <p:sp>
          <p:nvSpPr>
            <p:cNvPr id="23" name="ïṥḷîďe"/>
            <p:cNvSpPr/>
            <p:nvPr/>
          </p:nvSpPr>
          <p:spPr>
            <a:xfrm>
              <a:off x="3886073" y="2274044"/>
              <a:ext cx="597264" cy="597262"/>
            </a:xfrm>
            <a:prstGeom prst="ellipse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9710" y="2398915"/>
              <a:ext cx="360000" cy="360000"/>
            </a:xfrm>
            <a:prstGeom prst="rect">
              <a:avLst/>
            </a:prstGeom>
            <a:grpFill/>
          </p:spPr>
        </p:pic>
      </p:grpSp>
      <p:grpSp>
        <p:nvGrpSpPr>
          <p:cNvPr id="4" name="组合 3"/>
          <p:cNvGrpSpPr/>
          <p:nvPr/>
        </p:nvGrpSpPr>
        <p:grpSpPr>
          <a:xfrm>
            <a:off x="3886073" y="4570045"/>
            <a:ext cx="597264" cy="597262"/>
            <a:chOff x="3886073" y="4570045"/>
            <a:chExt cx="597264" cy="597262"/>
          </a:xfrm>
          <a:solidFill>
            <a:srgbClr val="1C6299"/>
          </a:solidFill>
        </p:grpSpPr>
        <p:sp>
          <p:nvSpPr>
            <p:cNvPr id="25" name="iṩlïḓê"/>
            <p:cNvSpPr/>
            <p:nvPr/>
          </p:nvSpPr>
          <p:spPr>
            <a:xfrm>
              <a:off x="3886073" y="4570045"/>
              <a:ext cx="597264" cy="597262"/>
            </a:xfrm>
            <a:prstGeom prst="ellipse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0750" y="4713478"/>
              <a:ext cx="324000" cy="324000"/>
            </a:xfrm>
            <a:prstGeom prst="rect">
              <a:avLst/>
            </a:prstGeom>
            <a:grpFill/>
          </p:spPr>
        </p:pic>
      </p:grpSp>
      <p:grpSp>
        <p:nvGrpSpPr>
          <p:cNvPr id="7" name="组合 6"/>
          <p:cNvGrpSpPr/>
          <p:nvPr/>
        </p:nvGrpSpPr>
        <p:grpSpPr>
          <a:xfrm>
            <a:off x="7705488" y="4570045"/>
            <a:ext cx="597264" cy="597262"/>
            <a:chOff x="7705488" y="4570045"/>
            <a:chExt cx="597264" cy="597262"/>
          </a:xfrm>
          <a:solidFill>
            <a:srgbClr val="1C6299"/>
          </a:solidFill>
        </p:grpSpPr>
        <p:sp>
          <p:nvSpPr>
            <p:cNvPr id="30" name="ïṥļîde"/>
            <p:cNvSpPr/>
            <p:nvPr/>
          </p:nvSpPr>
          <p:spPr>
            <a:xfrm>
              <a:off x="7705488" y="4570045"/>
              <a:ext cx="597264" cy="597262"/>
            </a:xfrm>
            <a:prstGeom prst="ellipse">
              <a:avLst/>
            </a:prstGeom>
            <a:grpFill/>
            <a:ln w="19050">
              <a:solidFill>
                <a:srgbClr val="42A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C629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2707" y="4666892"/>
              <a:ext cx="396000" cy="396000"/>
            </a:xfrm>
            <a:prstGeom prst="rect">
              <a:avLst/>
            </a:prstGeom>
            <a:grpFill/>
          </p:spPr>
        </p:pic>
      </p:grpSp>
      <p:sp>
        <p:nvSpPr>
          <p:cNvPr id="70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zh-CN" altLang="en-US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项目总结与展望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6" name="组合 75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7" name="椭圆 76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07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80" name="图片 7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089400" y="1836420"/>
            <a:ext cx="4075430" cy="3768090"/>
          </a:xfrm>
          <a:prstGeom prst="rect">
            <a:avLst/>
          </a:prstGeom>
        </p:spPr>
      </p:pic>
      <p:grpSp>
        <p:nvGrpSpPr>
          <p:cNvPr id="60" name="组合 59"/>
          <p:cNvGrpSpPr/>
          <p:nvPr/>
        </p:nvGrpSpPr>
        <p:grpSpPr>
          <a:xfrm rot="0">
            <a:off x="379976" y="1478914"/>
            <a:ext cx="3314139" cy="1132585"/>
            <a:chOff x="461348" y="1557282"/>
            <a:chExt cx="3314409" cy="1132558"/>
          </a:xfrm>
        </p:grpSpPr>
        <p:sp>
          <p:nvSpPr>
            <p:cNvPr id="66" name="ïṧļiḍe"/>
            <p:cNvSpPr/>
            <p:nvPr/>
          </p:nvSpPr>
          <p:spPr>
            <a:xfrm flipH="1">
              <a:off x="461348" y="1557282"/>
              <a:ext cx="2880984" cy="357534"/>
            </a:xfrm>
            <a:prstGeom prst="rect">
              <a:avLst/>
            </a:prstGeom>
            <a:noFill/>
          </p:spPr>
          <p:txBody>
            <a:bodyPr wrap="square" lIns="91440" tIns="45720" rIns="91440" bIns="4572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r" defTabSz="1375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项目总结</a:t>
              </a:r>
              <a:endParaRPr kumimoji="0" lang="zh-CN" altLang="en-US" sz="32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67" name="TextBox 186"/>
            <p:cNvSpPr txBox="1"/>
            <p:nvPr/>
          </p:nvSpPr>
          <p:spPr>
            <a:xfrm>
              <a:off x="768467" y="2450451"/>
              <a:ext cx="3007290" cy="23938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1218565" rtl="0" eaLnBrk="1" fontAlgn="auto" latinLnBrk="0" hangingPunct="1">
                <a:lnSpc>
                  <a:spcPct val="13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成功构建了一套功能完善的云图书管理系统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4" name="TextBox 186"/>
          <p:cNvSpPr txBox="1"/>
          <p:nvPr/>
        </p:nvSpPr>
        <p:spPr>
          <a:xfrm>
            <a:off x="383540" y="3558920"/>
            <a:ext cx="3007045" cy="479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218565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深入掌握了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Spring Boot 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Vue 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全栈开发技术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5" name="TextBox 186"/>
          <p:cNvSpPr txBox="1"/>
          <p:nvPr/>
        </p:nvSpPr>
        <p:spPr>
          <a:xfrm>
            <a:off x="594360" y="4665725"/>
            <a:ext cx="3007045" cy="479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218565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提升了系统设计、数据库建模及问题解决能力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1" name="TextBox 186"/>
          <p:cNvSpPr txBox="1"/>
          <p:nvPr/>
        </p:nvSpPr>
        <p:spPr>
          <a:xfrm>
            <a:off x="8652510" y="2323845"/>
            <a:ext cx="3007045" cy="479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微服务化：当业务量增大时，拆分为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User/Book/Order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微服务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2" name="TextBox 186"/>
          <p:cNvSpPr txBox="1"/>
          <p:nvPr/>
        </p:nvSpPr>
        <p:spPr>
          <a:xfrm>
            <a:off x="8801100" y="3536695"/>
            <a:ext cx="3007045" cy="479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智能化：引入协同过滤算法，为用户智能推荐图书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3" name="TextBox 186"/>
          <p:cNvSpPr txBox="1"/>
          <p:nvPr/>
        </p:nvSpPr>
        <p:spPr>
          <a:xfrm>
            <a:off x="8576945" y="4713350"/>
            <a:ext cx="3007045" cy="479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x-none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高速化：引入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Redis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缓存以及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JVM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进程缓存提高响应速度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ïṧļiḍe"/>
          <p:cNvSpPr/>
          <p:nvPr/>
        </p:nvSpPr>
        <p:spPr>
          <a:xfrm flipH="1">
            <a:off x="7982831" y="1440815"/>
            <a:ext cx="2880749" cy="357542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未来展望</a:t>
            </a:r>
            <a:endParaRPr kumimoji="0" lang="zh-CN" altLang="en-US" sz="32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709272" y="2967912"/>
            <a:ext cx="56692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3765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恳请老师批评指正</a:t>
            </a:r>
            <a:endParaRPr lang="zh-CN" altLang="en-US" sz="5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sp>
        <p:nvSpPr>
          <p:cNvPr id="17" name="文本占位符 13"/>
          <p:cNvSpPr txBox="1"/>
          <p:nvPr/>
        </p:nvSpPr>
        <p:spPr>
          <a:xfrm>
            <a:off x="4977130" y="5742305"/>
            <a:ext cx="3028950" cy="2965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2025 </a:t>
            </a:r>
            <a:r>
              <a:rPr lang="en-US" altLang="zh-CN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/ 12</a:t>
            </a:r>
            <a:r>
              <a:rPr lang="en-US" altLang="zh-CN" dirty="0" smtClean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/ 20</a:t>
            </a:r>
            <a:endParaRPr lang="zh-CN" altLang="en-US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2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3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4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5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6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7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8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9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10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11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12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13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14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15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16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17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18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19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20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21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22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23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24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25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26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27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28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29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30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31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32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33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34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35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36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37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38.xml><?xml version="1.0" encoding="utf-8"?>
<p:tagLst xmlns:p="http://schemas.openxmlformats.org/presentationml/2006/main">
  <p:tag name="KSO_WM_DIAGRAM_VIRTUALLY_FRAME" val="{&quot;height&quot;:373.4992913385827,&quot;left&quot;:375.5874803149606,&quot;top&quot;:101.99992125984252,&quot;width&quot;:529.6625196850393}"/>
</p:tagLst>
</file>

<file path=ppt/tags/tag39.xml><?xml version="1.0" encoding="utf-8"?>
<p:tagLst xmlns:p="http://schemas.openxmlformats.org/presentationml/2006/main">
  <p:tag name="KSO_WM_DIAGRAM_VIRTUALLY_FRAME" val="{&quot;height&quot;:216.82598425196852,&quot;left&quot;:407.05267716535434,&quot;top&quot;:171.10700787401575,&quot;width&quot;:451.41212598425193}"/>
</p:tagLst>
</file>

<file path=ppt/tags/tag40.xml><?xml version="1.0" encoding="utf-8"?>
<p:tagLst xmlns:p="http://schemas.openxmlformats.org/presentationml/2006/main">
  <p:tag name="KSO_WM_DIAGRAM_VIRTUALLY_FRAME" val="{&quot;height&quot;:216.82598425196852,&quot;left&quot;:407.05267716535434,&quot;top&quot;:171.10700787401575,&quot;width&quot;:451.41212598425193}"/>
</p:tagLst>
</file>

<file path=ppt/tags/tag41.xml><?xml version="1.0" encoding="utf-8"?>
<p:tagLst xmlns:p="http://schemas.openxmlformats.org/presentationml/2006/main">
  <p:tag name="KSO_WM_DIAGRAM_VIRTUALLY_FRAME" val="{&quot;height&quot;:216.82598425196852,&quot;left&quot;:407.05267716535434,&quot;top&quot;:171.10700787401575,&quot;width&quot;:451.41212598425193}"/>
</p:tagLst>
</file>

<file path=ppt/tags/tag42.xml><?xml version="1.0" encoding="utf-8"?>
<p:tagLst xmlns:p="http://schemas.openxmlformats.org/presentationml/2006/main">
  <p:tag name="KSO_WM_DIAGRAM_VIRTUALLY_FRAME" val="{&quot;height&quot;:216.82598425196852,&quot;left&quot;:407.05267716535434,&quot;top&quot;:171.10700787401575,&quot;width&quot;:451.41212598425193}"/>
</p:tagLst>
</file>

<file path=ppt/tags/tag43.xml><?xml version="1.0" encoding="utf-8"?>
<p:tagLst xmlns:p="http://schemas.openxmlformats.org/presentationml/2006/main">
  <p:tag name="KSO_WM_DIAGRAM_VIRTUALLY_FRAME" val="{&quot;height&quot;:216.82598425196852,&quot;left&quot;:407.05267716535434,&quot;top&quot;:171.10700787401575,&quot;width&quot;:451.41212598425193}"/>
</p:tagLst>
</file>

<file path=ppt/tags/tag44.xml><?xml version="1.0" encoding="utf-8"?>
<p:tagLst xmlns:p="http://schemas.openxmlformats.org/presentationml/2006/main">
  <p:tag name="KSO_WM_DIAGRAM_VIRTUALLY_FRAME" val="{&quot;height&quot;:216.82598425196852,&quot;left&quot;:407.05267716535434,&quot;top&quot;:171.10700787401575,&quot;width&quot;:451.41212598425193}"/>
</p:tagLst>
</file>

<file path=ppt/tags/tag45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46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47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48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49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50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51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52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53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54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55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56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57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58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59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60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61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62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63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64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65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66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67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68.xml><?xml version="1.0" encoding="utf-8"?>
<p:tagLst xmlns:p="http://schemas.openxmlformats.org/presentationml/2006/main">
  <p:tag name="KSO_WM_DIAGRAM_VIRTUALLY_FRAME" val="{&quot;height&quot;:274.6207874015748,&quot;left&quot;:407.05267716535434,&quot;top&quot;:141.40700787401576,&quot;width&quot;:451.41212598425193}"/>
</p:tagLst>
</file>

<file path=ppt/tags/tag69.xml><?xml version="1.0" encoding="utf-8"?>
<p:tagLst xmlns:p="http://schemas.openxmlformats.org/presentationml/2006/main">
  <p:tag name="commondata" val="eyJoZGlkIjoiMTFiMjRlYjRkODg2ZDk0OTllN2NiNzAxMTIyNjEzMmY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5179</Words>
  <Application>WPS 演示</Application>
  <PresentationFormat>自定义</PresentationFormat>
  <Paragraphs>573</Paragraphs>
  <Slides>20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41" baseType="lpstr">
      <vt:lpstr>Arial</vt:lpstr>
      <vt:lpstr>宋体</vt:lpstr>
      <vt:lpstr>Wingdings</vt:lpstr>
      <vt:lpstr>DejaVu Sans</vt:lpstr>
      <vt:lpstr>Calibri</vt:lpstr>
      <vt:lpstr>等线</vt:lpstr>
      <vt:lpstr>微软雅黑</vt:lpstr>
      <vt:lpstr>黑体</vt:lpstr>
      <vt:lpstr>Arial</vt:lpstr>
      <vt:lpstr>Impact</vt:lpstr>
      <vt:lpstr>Arial Unicode MS</vt:lpstr>
      <vt:lpstr>等线 Light</vt:lpstr>
      <vt:lpstr>Calibri Light</vt:lpstr>
      <vt:lpstr>Segoe UI</vt:lpstr>
      <vt:lpstr>Open Sans Extrabold</vt:lpstr>
      <vt:lpstr>EB Garamond 12</vt:lpstr>
      <vt:lpstr>等线</vt:lpstr>
      <vt:lpstr>Noto Looped Lao Bold</vt:lpstr>
      <vt:lpstr>1_Office 主题​​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紫色沉稳简约毕业答辩毕业论文答辩PPT</dc:title>
  <dc:creator>lenovo</dc:creator>
  <cp:lastModifiedBy>潘意强</cp:lastModifiedBy>
  <cp:revision>83</cp:revision>
  <dcterms:created xsi:type="dcterms:W3CDTF">2025-12-16T13:20:34Z</dcterms:created>
  <dcterms:modified xsi:type="dcterms:W3CDTF">2025-12-16T13:20:34Z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2052-12.1.2.22571</vt:lpwstr>
  </property>
  <property fmtid="{D5CDD505-2E9C-101B-9397-08002B2CF9AE}" pid="3" name="ICV">
    <vt:lpwstr>3E6360C6DCCC423D98F5DA1985ABB2C1_12</vt:lpwstr>
  </property>
</Properties>
</file>